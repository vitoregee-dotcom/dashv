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sso dia" id="{51ebfa28-d41d-4704-4695-54595479bce9}">
          <p14:sldIdLst>
            <p14:sldId id="256"/>
            <p14:sldId id="257"/>
            <p14:sldId id="258"/>
          </p14:sldIdLst>
        </p14:section>
        <p14:section name="Como o PartsFlow resolve" id="{15003873-c764-7403-22c7-7d5c28f176e3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O resultado" id="{e0fbc7df-dfcb-ab7b-654b-835de58f63be}">
          <p14:sldIdLst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conversa é sobre o nosso dia, não sobre tecnologia. Primeiro: o que fazemos e o que trava. Depois: como o PartsFlow resolve cada ponto, com a tela de verdade.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Nosso dia tem três frentes: responder rápido, gerir a carteira e prospectar. Todo tempo é precioso. Se a cotação demora, acumula atividade, gera estresse, a gente faz tudo correndo e aumenta a chance de sair coisa errada. Ainda tem os problemas do dia a dia e procurar código em catálogo.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Ler a lista com calma. Cada item a gente vive todo dia. Mudar o JBoss pra resolver isso é praticamente impossível; por isso o PartsFlow trabalha ao lado dele. A partir do próximo slide: cada problema e a solução, com a tela de verdade.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ao vivo uma cotação em 2 linhas. Passar o mouse no último preço: aparece o vendido e o só cotado. Trocar o cliente sem perder os itens. Esse é o slide mais importante: a tela que a gente usa o dia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ganhos grandes. Primeiro, a lista do cliente vira cotação a partir do print. Segundo, o assistente de IA guarda as regras de cada cliente (não cotar marca, só se faltar, preferir, a mais barata, marca fixa, margem) e aplica sozinho. A cotação enxuta sobe só a ficha que tem saldo. Ninguém precisa lembrar de cabeça.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a Área Técnica: buscar uma peça e ver o que monta com ela; buscar por medida; na cotação, a etiqueta do catálogo abre o desenho. O kit mostra o que vem dentro e o saldo. É a parte técnica ligada à venda: o consultor procura cada vez menos.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Avise-me já existe: o vendedor marca o item e é avisado quando chega, com o nome do cliente que estava esperando. A novidade é a janela Chegou: o sistema cruza o que chegou com o histórico e mostra pra quem oferecer, com a mensagem pronta.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um atalho de texto (carta de correção ou transferência): o formulário já vem preenchido. A solicitação de compra sai da cotação. O RMA tem busca, relatório e a garantia Dana por link.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Dashboard (o que comprar e quando) e o Mapa de Compras: cotação pros fornecedores, respostas lado a lado, preço de venda calculado.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está o ganho que a gente mais quer: tempo pra carteira e prospecção. O Meu dia monta a lista do que fazer hoje. A Órbita mostra a carteira inteira num olhar.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formas de vender mais sem esforço: a sugestão na própria cotação e o catálogo que vai até 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Ler linha por linha perguntando: isso acontece aqui? Se der, pôr o tempo real de cada situação.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o que ganhamos e pedir pouco: um piloto de 30 dias, com números. O ERP continua; o PartsFlow trabalha ao 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fechada, com data e nomes.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329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070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160520"/>
            <a:ext cx="96926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PartsFlow · Triex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Alt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PartsFlow · Triex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Escuro">
    <p:bg>
      <p:bgPr>
        <a:solidFill>
          <a:srgbClr val="1329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6E8"/>
                </a:solidFill>
              </a:rPr>
              <a:t>PartsFlow · Triex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C9D6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mada"/>
          <p:cNvSpPr txBox="1"/>
          <p:nvPr/>
        </p:nvSpPr>
        <p:spPr>
          <a:xfrm>
            <a:off x="73152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2"/>
                </a:solidFill>
              </a:rPr>
              <a:t>PARTSFLOW · TRIEX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828800"/>
            <a:ext cx="10607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accent4"/>
                </a:solidFill>
              </a:rPr>
              <a:t>O tempo de volta</a:t>
            </a:r>
            <a:endParaRPr lang="en-US" sz="5200" dirty="0"/>
          </a:p>
          <a:p>
            <a:pPr algn="l" indent="0" marL="0">
              <a:buNone/>
            </a:pPr>
            <a:r>
              <a:rPr lang="en-US" sz="5200" b="1" dirty="0">
                <a:solidFill>
                  <a:schemeClr val="accent4"/>
                </a:solidFill>
              </a:rPr>
              <a:t>pra gente vender</a:t>
            </a:r>
            <a:endParaRPr lang="en-US" sz="5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416052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6"/>
                </a:solidFill>
              </a:rPr>
              <a:t>O que trava o nosso dia no JBoss, e como o PartsFlow resolve.</a:t>
            </a:r>
            <a:endParaRPr lang="en-US" sz="2200" dirty="0"/>
          </a:p>
        </p:txBody>
      </p:sp>
      <p:sp>
        <p:nvSpPr>
          <p:cNvPr id="5" name="Apresentador"/>
          <p:cNvSpPr txBox="1"/>
          <p:nvPr/>
        </p:nvSpPr>
        <p:spPr>
          <a:xfrm>
            <a:off x="731520" y="6126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[Nome de quem apresenta] · [data]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mada"/>
          <p:cNvSpPr txBox="1"/>
          <p:nvPr/>
        </p:nvSpPr>
        <p:spPr>
          <a:xfrm>
            <a:off x="548640" y="365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NOSSO TRABALHO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Nosso trabalho não é só fazer cotação</a:t>
            </a:r>
            <a:endParaRPr lang="en-US" sz="3000" dirty="0"/>
          </a:p>
        </p:txBody>
      </p:sp>
      <p:sp>
        <p:nvSpPr>
          <p:cNvPr id="4" name="Cartão"/>
          <p:cNvSpPr/>
          <p:nvPr/>
        </p:nvSpPr>
        <p:spPr>
          <a:xfrm>
            <a:off x="548640" y="178308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E9EEF5"/>
          </a:solidFill>
          <a:ln w="12700">
            <a:solidFill>
              <a:srgbClr val="E9EE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Ícone fundo"/>
          <p:cNvSpPr/>
          <p:nvPr/>
        </p:nvSpPr>
        <p:spPr>
          <a:xfrm>
            <a:off x="868680" y="20116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1" y="217810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788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Responder rápido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2004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Revenda e consumidor querem resposta na hora, e a gente faz muita cotação.</a:t>
            </a:r>
            <a:endParaRPr lang="en-US" sz="1400" dirty="0"/>
          </a:p>
        </p:txBody>
      </p:sp>
      <p:sp>
        <p:nvSpPr>
          <p:cNvPr id="9" name="Cartão"/>
          <p:cNvSpPr/>
          <p:nvPr/>
        </p:nvSpPr>
        <p:spPr>
          <a:xfrm>
            <a:off x="4320540" y="178308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E9EEF5"/>
          </a:solidFill>
          <a:ln w="12700">
            <a:solidFill>
              <a:srgbClr val="E9EE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Ícone fundo"/>
          <p:cNvSpPr/>
          <p:nvPr/>
        </p:nvSpPr>
        <p:spPr>
          <a:xfrm>
            <a:off x="4640580" y="20116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7001" y="217810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40580" y="2788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Gerir a carteira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640580" y="32004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Acompanhar quem compra, quem parou e quem pode comprar mais.</a:t>
            </a:r>
            <a:endParaRPr lang="en-US" sz="1400" dirty="0"/>
          </a:p>
        </p:txBody>
      </p:sp>
      <p:sp>
        <p:nvSpPr>
          <p:cNvPr id="14" name="Cartão"/>
          <p:cNvSpPr/>
          <p:nvPr/>
        </p:nvSpPr>
        <p:spPr>
          <a:xfrm>
            <a:off x="8092440" y="178308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E9EEF5"/>
          </a:solidFill>
          <a:ln w="12700">
            <a:solidFill>
              <a:srgbClr val="E9EE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Ícone fundo"/>
          <p:cNvSpPr/>
          <p:nvPr/>
        </p:nvSpPr>
        <p:spPr>
          <a:xfrm>
            <a:off x="8412480" y="20116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8901" y="217810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12480" y="2788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Prospectar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412480" y="32004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Buscar oportunidade nova. É o que faz a venda crescer.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4389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Quando a cotação demora:</a:t>
            </a:r>
            <a:endParaRPr lang="en-US" sz="1600" dirty="0"/>
          </a:p>
        </p:txBody>
      </p:sp>
      <p:sp>
        <p:nvSpPr>
          <p:cNvPr id="20" name="Etapa"/>
          <p:cNvSpPr/>
          <p:nvPr/>
        </p:nvSpPr>
        <p:spPr>
          <a:xfrm>
            <a:off x="548640" y="4892040"/>
            <a:ext cx="2331720" cy="731520"/>
          </a:xfrm>
          <a:prstGeom prst="roundRect">
            <a:avLst>
              <a:gd name="adj" fmla="val 12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48640" y="489204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Acumula atividade</a:t>
            </a:r>
            <a:endParaRPr lang="en-US" sz="1700" dirty="0"/>
          </a:p>
        </p:txBody>
      </p:sp>
      <p:sp>
        <p:nvSpPr>
          <p:cNvPr id="22" name="Seta"/>
          <p:cNvSpPr/>
          <p:nvPr/>
        </p:nvSpPr>
        <p:spPr>
          <a:xfrm>
            <a:off x="2971800" y="5074920"/>
            <a:ext cx="320040" cy="36576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Etapa"/>
          <p:cNvSpPr/>
          <p:nvPr/>
        </p:nvSpPr>
        <p:spPr>
          <a:xfrm>
            <a:off x="3383280" y="4892040"/>
            <a:ext cx="2331720" cy="731520"/>
          </a:xfrm>
          <a:prstGeom prst="roundRect">
            <a:avLst>
              <a:gd name="adj" fmla="val 12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3383280" y="489204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Gera estresse</a:t>
            </a:r>
            <a:endParaRPr lang="en-US" sz="1700" dirty="0"/>
          </a:p>
        </p:txBody>
      </p:sp>
      <p:sp>
        <p:nvSpPr>
          <p:cNvPr id="25" name="Seta"/>
          <p:cNvSpPr/>
          <p:nvPr/>
        </p:nvSpPr>
        <p:spPr>
          <a:xfrm>
            <a:off x="5806440" y="5074920"/>
            <a:ext cx="320040" cy="36576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Etapa"/>
          <p:cNvSpPr/>
          <p:nvPr/>
        </p:nvSpPr>
        <p:spPr>
          <a:xfrm>
            <a:off x="6217920" y="4892040"/>
            <a:ext cx="2331720" cy="731520"/>
          </a:xfrm>
          <a:prstGeom prst="roundRect">
            <a:avLst>
              <a:gd name="adj" fmla="val 12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217920" y="489204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Faz tudo correndo</a:t>
            </a:r>
            <a:endParaRPr lang="en-US" sz="1700" dirty="0"/>
          </a:p>
        </p:txBody>
      </p:sp>
      <p:sp>
        <p:nvSpPr>
          <p:cNvPr id="28" name="Seta"/>
          <p:cNvSpPr/>
          <p:nvPr/>
        </p:nvSpPr>
        <p:spPr>
          <a:xfrm>
            <a:off x="8641080" y="5074920"/>
            <a:ext cx="320040" cy="36576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Etapa"/>
          <p:cNvSpPr/>
          <p:nvPr/>
        </p:nvSpPr>
        <p:spPr>
          <a:xfrm>
            <a:off x="9052560" y="4892040"/>
            <a:ext cx="2331720" cy="731520"/>
          </a:xfrm>
          <a:prstGeom prst="roundRect">
            <a:avLst>
              <a:gd name="adj" fmla="val 125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9052560" y="489204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Sai coisa errada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mada"/>
          <p:cNvSpPr txBox="1"/>
          <p:nvPr/>
        </p:nvSpPr>
        <p:spPr>
          <a:xfrm>
            <a:off x="548640" y="365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O QUE TRAVA HOJE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JBoss é engessado: tudo atrás de muitos cliques</a:t>
            </a:r>
            <a:endParaRPr lang="en-US" sz="3000" dirty="0"/>
          </a:p>
        </p:txBody>
      </p:sp>
      <p:sp>
        <p:nvSpPr>
          <p:cNvPr id="4" name="Cartão"/>
          <p:cNvSpPr/>
          <p:nvPr/>
        </p:nvSpPr>
        <p:spPr>
          <a:xfrm>
            <a:off x="548640" y="1783080"/>
            <a:ext cx="53949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Ícone fundo"/>
          <p:cNvSpPr/>
          <p:nvPr/>
        </p:nvSpPr>
        <p:spPr>
          <a:xfrm>
            <a:off x="749808" y="1965960"/>
            <a:ext cx="475488" cy="47548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6" name="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435" y="2089587"/>
            <a:ext cx="228234" cy="22823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856232"/>
            <a:ext cx="4389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Tela de vendas vazia: a informação está escondida</a:t>
            </a:r>
            <a:endParaRPr lang="en-US" sz="1500" dirty="0"/>
          </a:p>
        </p:txBody>
      </p:sp>
      <p:sp>
        <p:nvSpPr>
          <p:cNvPr id="8" name="Cartão"/>
          <p:cNvSpPr/>
          <p:nvPr/>
        </p:nvSpPr>
        <p:spPr>
          <a:xfrm>
            <a:off x="6217920" y="1783080"/>
            <a:ext cx="53949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Ícone fundo"/>
          <p:cNvSpPr/>
          <p:nvPr/>
        </p:nvSpPr>
        <p:spPr>
          <a:xfrm>
            <a:off x="6419088" y="1965960"/>
            <a:ext cx="475488" cy="47548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0" name="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2715" y="2089587"/>
            <a:ext cx="228234" cy="22823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086600" y="1856232"/>
            <a:ext cx="4389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Margem e último preço (vendido ou cotado) longe da tela</a:t>
            </a:r>
            <a:endParaRPr lang="en-US" sz="1500" dirty="0"/>
          </a:p>
        </p:txBody>
      </p:sp>
      <p:sp>
        <p:nvSpPr>
          <p:cNvPr id="12" name="Cartão"/>
          <p:cNvSpPr/>
          <p:nvPr/>
        </p:nvSpPr>
        <p:spPr>
          <a:xfrm>
            <a:off x="548640" y="2807208"/>
            <a:ext cx="53949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Ícone fundo"/>
          <p:cNvSpPr/>
          <p:nvPr/>
        </p:nvSpPr>
        <p:spPr>
          <a:xfrm>
            <a:off x="749808" y="2990088"/>
            <a:ext cx="475488" cy="47548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4" name="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435" y="3113715"/>
            <a:ext cx="228234" cy="22823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17320" y="2880360"/>
            <a:ext cx="4389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Outro CNPJ = digitar tudo de novo e limpar a cotação</a:t>
            </a:r>
            <a:endParaRPr lang="en-US" sz="1500" dirty="0"/>
          </a:p>
        </p:txBody>
      </p:sp>
      <p:sp>
        <p:nvSpPr>
          <p:cNvPr id="16" name="Cartão"/>
          <p:cNvSpPr/>
          <p:nvPr/>
        </p:nvSpPr>
        <p:spPr>
          <a:xfrm>
            <a:off x="6217920" y="2807208"/>
            <a:ext cx="53949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Ícone fundo"/>
          <p:cNvSpPr/>
          <p:nvPr/>
        </p:nvSpPr>
        <p:spPr>
          <a:xfrm>
            <a:off x="6419088" y="2990088"/>
            <a:ext cx="475488" cy="47548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2715" y="3113715"/>
            <a:ext cx="228234" cy="22823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086600" y="2880360"/>
            <a:ext cx="4389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Conversões sem linha cadastrada</a:t>
            </a:r>
            <a:endParaRPr lang="en-US" sz="1500" dirty="0"/>
          </a:p>
        </p:txBody>
      </p:sp>
      <p:sp>
        <p:nvSpPr>
          <p:cNvPr id="20" name="Cartão"/>
          <p:cNvSpPr/>
          <p:nvPr/>
        </p:nvSpPr>
        <p:spPr>
          <a:xfrm>
            <a:off x="548640" y="3831336"/>
            <a:ext cx="53949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Ícone fundo"/>
          <p:cNvSpPr/>
          <p:nvPr/>
        </p:nvSpPr>
        <p:spPr>
          <a:xfrm>
            <a:off x="749808" y="4014216"/>
            <a:ext cx="475488" cy="47548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2" name="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435" y="4137843"/>
            <a:ext cx="228234" cy="22823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17320" y="3904488"/>
            <a:ext cx="4389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Sem lugar pra foto ou imagem explicativa da peça</a:t>
            </a:r>
            <a:endParaRPr lang="en-US" sz="1500" dirty="0"/>
          </a:p>
        </p:txBody>
      </p:sp>
      <p:sp>
        <p:nvSpPr>
          <p:cNvPr id="24" name="Cartão"/>
          <p:cNvSpPr/>
          <p:nvPr/>
        </p:nvSpPr>
        <p:spPr>
          <a:xfrm>
            <a:off x="6217920" y="3831336"/>
            <a:ext cx="53949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Ícone fundo"/>
          <p:cNvSpPr/>
          <p:nvPr/>
        </p:nvSpPr>
        <p:spPr>
          <a:xfrm>
            <a:off x="6419088" y="4014216"/>
            <a:ext cx="475488" cy="47548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6" name="Í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2715" y="4137843"/>
            <a:ext cx="228234" cy="228234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086600" y="3904488"/>
            <a:ext cx="4389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Solicitar compra = um monte de campos</a:t>
            </a:r>
            <a:endParaRPr lang="en-US" sz="1500" dirty="0"/>
          </a:p>
        </p:txBody>
      </p:sp>
      <p:sp>
        <p:nvSpPr>
          <p:cNvPr id="28" name="Cartão"/>
          <p:cNvSpPr/>
          <p:nvPr/>
        </p:nvSpPr>
        <p:spPr>
          <a:xfrm>
            <a:off x="548640" y="4855464"/>
            <a:ext cx="53949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9" name="Ícone fundo"/>
          <p:cNvSpPr/>
          <p:nvPr/>
        </p:nvSpPr>
        <p:spPr>
          <a:xfrm>
            <a:off x="749808" y="5038344"/>
            <a:ext cx="475488" cy="47548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0" name="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3435" y="5161971"/>
            <a:ext cx="228234" cy="228234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417320" y="4928616"/>
            <a:ext cx="4389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Nada avisa quando a peça que esperamos chega</a:t>
            </a:r>
            <a:endParaRPr lang="en-US" sz="1500" dirty="0"/>
          </a:p>
        </p:txBody>
      </p:sp>
      <p:sp>
        <p:nvSpPr>
          <p:cNvPr id="32" name="Cartão"/>
          <p:cNvSpPr/>
          <p:nvPr/>
        </p:nvSpPr>
        <p:spPr>
          <a:xfrm>
            <a:off x="6217920" y="4855464"/>
            <a:ext cx="53949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3" name="Ícone fundo"/>
          <p:cNvSpPr/>
          <p:nvPr/>
        </p:nvSpPr>
        <p:spPr>
          <a:xfrm>
            <a:off x="6419088" y="5038344"/>
            <a:ext cx="475488" cy="47548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4" name="Ícon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2715" y="5161971"/>
            <a:ext cx="228234" cy="228234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086600" y="4928616"/>
            <a:ext cx="4389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Difícil oferecer o que chegou pra cada cliente da linha</a:t>
            </a:r>
            <a:endParaRPr lang="en-US" sz="1500" dirty="0"/>
          </a:p>
        </p:txBody>
      </p:sp>
      <p:sp>
        <p:nvSpPr>
          <p:cNvPr id="36" name="Text 26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E ainda: procurar código em catálogo, um por um.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mada"/>
          <p:cNvSpPr txBox="1"/>
          <p:nvPr/>
        </p:nvSpPr>
        <p:spPr>
          <a:xfrm>
            <a:off x="548640" y="365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TELA DE VENDAS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Tudo o que a gente precisa, na frente</a:t>
            </a:r>
            <a:endParaRPr lang="en-US" sz="3000" dirty="0"/>
          </a:p>
        </p:txBody>
      </p:sp>
      <p:sp>
        <p:nvSpPr>
          <p:cNvPr id="4" name="Cartão No JBoss"/>
          <p:cNvSpPr/>
          <p:nvPr/>
        </p:nvSpPr>
        <p:spPr>
          <a:xfrm>
            <a:off x="548640" y="1783080"/>
            <a:ext cx="3383280" cy="4297680"/>
          </a:xfrm>
          <a:prstGeom prst="roundRect">
            <a:avLst>
              <a:gd name="adj" fmla="val 3243"/>
            </a:avLst>
          </a:prstGeom>
          <a:solidFill>
            <a:srgbClr val="F8EAE6"/>
          </a:solidFill>
          <a:ln w="12700">
            <a:solidFill>
              <a:srgbClr val="F8EA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Ícone fundo"/>
          <p:cNvSpPr/>
          <p:nvPr/>
        </p:nvSpPr>
        <p:spPr>
          <a:xfrm>
            <a:off x="822960" y="2011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6" name="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214243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20574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5"/>
                </a:solidFill>
              </a:rPr>
              <a:t>NO JBOSS</a:t>
            </a:r>
            <a:endParaRPr lang="en-US" sz="1500" dirty="0"/>
          </a:p>
        </p:txBody>
      </p:sp>
      <p:sp>
        <p:nvSpPr>
          <p:cNvPr id="8" name="Problemas"/>
          <p:cNvSpPr txBox="1"/>
          <p:nvPr/>
        </p:nvSpPr>
        <p:spPr>
          <a:xfrm>
            <a:off x="822960" y="2743200"/>
            <a:ext cx="28803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Tela vazia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Margem e último preço escondidos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Outro CNPJ: digitar tudo de novo</a:t>
            </a:r>
            <a:endParaRPr lang="en-US" sz="1500" dirty="0"/>
          </a:p>
        </p:txBody>
      </p:sp>
      <p:sp>
        <p:nvSpPr>
          <p:cNvPr id="9" name="Ícone fundo"/>
          <p:cNvSpPr/>
          <p:nvPr/>
        </p:nvSpPr>
        <p:spPr>
          <a:xfrm>
            <a:off x="4251960" y="1783080"/>
            <a:ext cx="502920" cy="502920"/>
          </a:xfrm>
          <a:prstGeom prst="ellipse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pic>
        <p:nvPicPr>
          <p:cNvPr id="10" name="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2719" y="1913839"/>
            <a:ext cx="241402" cy="24140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892040" y="1828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E8449"/>
                </a:solidFill>
              </a:rPr>
              <a:t>NO PARTSFLOW</a:t>
            </a:r>
            <a:endParaRPr lang="en-US" sz="1500" dirty="0"/>
          </a:p>
        </p:txBody>
      </p:sp>
      <p:sp>
        <p:nvSpPr>
          <p:cNvPr id="12" name="Fundo da captura"/>
          <p:cNvSpPr/>
          <p:nvPr/>
        </p:nvSpPr>
        <p:spPr>
          <a:xfrm>
            <a:off x="4251960" y="2423160"/>
            <a:ext cx="7360920" cy="1600200"/>
          </a:xfrm>
          <a:prstGeom prst="roundRect">
            <a:avLst>
              <a:gd name="adj" fmla="val 6857"/>
            </a:avLst>
          </a:prstGeom>
          <a:solidFill>
            <a:srgbClr val="E9EEF5"/>
          </a:solidFill>
          <a:ln w="12700">
            <a:solidFill>
              <a:srgbClr val="E9EE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pic>
        <p:nvPicPr>
          <p:cNvPr id="13" name="Captura" descr="Cotação em 2 linhas com saldo, último preço vendido e cotado, IPI e ST, margem e status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343400" y="2487168"/>
            <a:ext cx="7178040" cy="1463040"/>
          </a:xfrm>
          <a:prstGeom prst="rect">
            <a:avLst/>
          </a:prstGeom>
        </p:spPr>
      </p:pic>
      <p:sp>
        <p:nvSpPr>
          <p:cNvPr id="14" name="Soluções"/>
          <p:cNvSpPr txBox="1"/>
          <p:nvPr/>
        </p:nvSpPr>
        <p:spPr>
          <a:xfrm>
            <a:off x="4251960" y="4251960"/>
            <a:ext cx="7360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Saldo, status, margem e preço final com IPI/ST na própria linha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Último preço do cliente: o que vendeu e o que só cotou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Código e marca do cliente embaixo do nosso (a conversão aparece)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Troca o cliente na mesma cotação, sem redigitar os itens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mada"/>
          <p:cNvSpPr txBox="1"/>
          <p:nvPr/>
        </p:nvSpPr>
        <p:spPr>
          <a:xfrm>
            <a:off x="548640" y="365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LISTA E ASSISTENTE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lista do cliente vira cotação, e as regras seguem sozinhas</a:t>
            </a:r>
            <a:endParaRPr lang="en-US" sz="3000" dirty="0"/>
          </a:p>
        </p:txBody>
      </p:sp>
      <p:sp>
        <p:nvSpPr>
          <p:cNvPr id="4" name="Cartão No JBoss"/>
          <p:cNvSpPr/>
          <p:nvPr/>
        </p:nvSpPr>
        <p:spPr>
          <a:xfrm>
            <a:off x="548640" y="1783080"/>
            <a:ext cx="3383280" cy="4297680"/>
          </a:xfrm>
          <a:prstGeom prst="roundRect">
            <a:avLst>
              <a:gd name="adj" fmla="val 3243"/>
            </a:avLst>
          </a:prstGeom>
          <a:solidFill>
            <a:srgbClr val="F8EAE6"/>
          </a:solidFill>
          <a:ln w="12700">
            <a:solidFill>
              <a:srgbClr val="F8EA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Ícone fundo"/>
          <p:cNvSpPr/>
          <p:nvPr/>
        </p:nvSpPr>
        <p:spPr>
          <a:xfrm>
            <a:off x="822960" y="2011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6" name="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214243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20574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5"/>
                </a:solidFill>
              </a:rPr>
              <a:t>NO JBOSS</a:t>
            </a:r>
            <a:endParaRPr lang="en-US" sz="1500" dirty="0"/>
          </a:p>
        </p:txBody>
      </p:sp>
      <p:sp>
        <p:nvSpPr>
          <p:cNvPr id="8" name="Problemas"/>
          <p:cNvSpPr txBox="1"/>
          <p:nvPr/>
        </p:nvSpPr>
        <p:spPr>
          <a:xfrm>
            <a:off x="822960" y="2743200"/>
            <a:ext cx="28803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Digitar item por item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Lembrar de cabeça a regra de cada cliente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Montar a cotação do zero toda vez</a:t>
            </a:r>
            <a:endParaRPr lang="en-US" sz="1500" dirty="0"/>
          </a:p>
        </p:txBody>
      </p:sp>
      <p:sp>
        <p:nvSpPr>
          <p:cNvPr id="9" name="Ícone fundo"/>
          <p:cNvSpPr/>
          <p:nvPr/>
        </p:nvSpPr>
        <p:spPr>
          <a:xfrm>
            <a:off x="4251960" y="1783080"/>
            <a:ext cx="502920" cy="502920"/>
          </a:xfrm>
          <a:prstGeom prst="ellipse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pic>
        <p:nvPicPr>
          <p:cNvPr id="10" name="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2719" y="1913839"/>
            <a:ext cx="241402" cy="24140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892040" y="1828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E8449"/>
                </a:solidFill>
              </a:rPr>
              <a:t>NO PARTSFLOW</a:t>
            </a:r>
            <a:endParaRPr lang="en-US" sz="1500" dirty="0"/>
          </a:p>
        </p:txBody>
      </p:sp>
      <p:sp>
        <p:nvSpPr>
          <p:cNvPr id="12" name="Cartão"/>
          <p:cNvSpPr/>
          <p:nvPr/>
        </p:nvSpPr>
        <p:spPr>
          <a:xfrm>
            <a:off x="4251960" y="2468880"/>
            <a:ext cx="3566160" cy="3611880"/>
          </a:xfrm>
          <a:prstGeom prst="roundRect">
            <a:avLst>
              <a:gd name="adj" fmla="val 3077"/>
            </a:avLst>
          </a:prstGeom>
          <a:solidFill>
            <a:srgbClr val="E9EEF5"/>
          </a:solidFill>
          <a:ln w="12700">
            <a:solidFill>
              <a:srgbClr val="E9EE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Ícone fundo"/>
          <p:cNvSpPr/>
          <p:nvPr/>
        </p:nvSpPr>
        <p:spPr>
          <a:xfrm>
            <a:off x="4526280" y="269748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814" y="2852014"/>
            <a:ext cx="285293" cy="28529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526280" y="34290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Lista por imagem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4526280" y="388620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 cliente manda print ou foto da lista: cola na cotação e os itens entram sozinhos, com código e quantidade.</a:t>
            </a:r>
            <a:endParaRPr lang="en-US" sz="1500" dirty="0"/>
          </a:p>
        </p:txBody>
      </p:sp>
      <p:sp>
        <p:nvSpPr>
          <p:cNvPr id="17" name="Cartão"/>
          <p:cNvSpPr/>
          <p:nvPr/>
        </p:nvSpPr>
        <p:spPr>
          <a:xfrm>
            <a:off x="8046720" y="2468880"/>
            <a:ext cx="3566160" cy="3611880"/>
          </a:xfrm>
          <a:prstGeom prst="roundRect">
            <a:avLst>
              <a:gd name="adj" fmla="val 3077"/>
            </a:avLst>
          </a:prstGeom>
          <a:solidFill>
            <a:srgbClr val="E9EEF5"/>
          </a:solidFill>
          <a:ln w="12700">
            <a:solidFill>
              <a:srgbClr val="E9EE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Ícone fundo"/>
          <p:cNvSpPr/>
          <p:nvPr/>
        </p:nvSpPr>
        <p:spPr>
          <a:xfrm>
            <a:off x="8321040" y="269748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5574" y="2852014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321040" y="34290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Regras por cliente</a:t>
            </a:r>
            <a:endParaRPr lang="en-US" sz="1900" dirty="0"/>
          </a:p>
        </p:txBody>
      </p:sp>
      <p:sp>
        <p:nvSpPr>
          <p:cNvPr id="21" name="Soluções"/>
          <p:cNvSpPr txBox="1"/>
          <p:nvPr/>
        </p:nvSpPr>
        <p:spPr>
          <a:xfrm>
            <a:off x="8321040" y="3886200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Cotar só determinada peça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Marca B só se não tiver a A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Sempre a mais em conta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Preferir ou bloquear marca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Margem própria do cliente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mada"/>
          <p:cNvSpPr txBox="1"/>
          <p:nvPr/>
        </p:nvSpPr>
        <p:spPr>
          <a:xfrm>
            <a:off x="548640" y="365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ÁREA TÉCNICA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Menos tempo procurando peça em catálogo</a:t>
            </a:r>
            <a:endParaRPr lang="en-US" sz="3000" dirty="0"/>
          </a:p>
        </p:txBody>
      </p:sp>
      <p:sp>
        <p:nvSpPr>
          <p:cNvPr id="4" name="Cartão No JBoss"/>
          <p:cNvSpPr/>
          <p:nvPr/>
        </p:nvSpPr>
        <p:spPr>
          <a:xfrm>
            <a:off x="548640" y="1783080"/>
            <a:ext cx="3383280" cy="4297680"/>
          </a:xfrm>
          <a:prstGeom prst="roundRect">
            <a:avLst>
              <a:gd name="adj" fmla="val 3243"/>
            </a:avLst>
          </a:prstGeom>
          <a:solidFill>
            <a:srgbClr val="F8EAE6"/>
          </a:solidFill>
          <a:ln w="12700">
            <a:solidFill>
              <a:srgbClr val="F8EA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Ícone fundo"/>
          <p:cNvSpPr/>
          <p:nvPr/>
        </p:nvSpPr>
        <p:spPr>
          <a:xfrm>
            <a:off x="822960" y="2011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6" name="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214243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20574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5"/>
                </a:solidFill>
              </a:rPr>
              <a:t>NO JBOSS</a:t>
            </a:r>
            <a:endParaRPr lang="en-US" sz="1500" dirty="0"/>
          </a:p>
        </p:txBody>
      </p:sp>
      <p:sp>
        <p:nvSpPr>
          <p:cNvPr id="8" name="Problemas"/>
          <p:cNvSpPr txBox="1"/>
          <p:nvPr/>
        </p:nvSpPr>
        <p:spPr>
          <a:xfrm>
            <a:off x="822960" y="2743200"/>
            <a:ext cx="28803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Procurar código em catálogo, um por um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Conversões sem linha cadastrada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Sem foto nem imagem da peça</a:t>
            </a:r>
            <a:endParaRPr lang="en-US" sz="1500" dirty="0"/>
          </a:p>
        </p:txBody>
      </p:sp>
      <p:sp>
        <p:nvSpPr>
          <p:cNvPr id="9" name="Ícone fundo"/>
          <p:cNvSpPr/>
          <p:nvPr/>
        </p:nvSpPr>
        <p:spPr>
          <a:xfrm>
            <a:off x="4251960" y="1783080"/>
            <a:ext cx="502920" cy="502920"/>
          </a:xfrm>
          <a:prstGeom prst="ellipse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pic>
        <p:nvPicPr>
          <p:cNvPr id="10" name="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2719" y="1913839"/>
            <a:ext cx="241402" cy="24140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892040" y="1828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E8449"/>
                </a:solidFill>
              </a:rPr>
              <a:t>NO PARTSFLOW</a:t>
            </a:r>
            <a:endParaRPr lang="en-US" sz="1500" dirty="0"/>
          </a:p>
        </p:txBody>
      </p:sp>
      <p:sp>
        <p:nvSpPr>
          <p:cNvPr id="12" name="Soluções"/>
          <p:cNvSpPr txBox="1"/>
          <p:nvPr/>
        </p:nvSpPr>
        <p:spPr>
          <a:xfrm>
            <a:off x="4251960" y="2468880"/>
            <a:ext cx="356616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Peças que trabalham juntas (monta com)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Busca por medida e por modelo ou série da máquina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Catálogos ligados à cotação: grupo e nº do desenho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Kits: "vem no jogo de juntas" e o saldo do kit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Fotos, desenho técnico com medidas e conversões</a:t>
            </a:r>
            <a:endParaRPr lang="en-US" sz="1500" dirty="0"/>
          </a:p>
        </p:txBody>
      </p:sp>
      <p:sp>
        <p:nvSpPr>
          <p:cNvPr id="13" name="Fundo da captura"/>
          <p:cNvSpPr/>
          <p:nvPr/>
        </p:nvSpPr>
        <p:spPr>
          <a:xfrm>
            <a:off x="8001000" y="1783080"/>
            <a:ext cx="3611880" cy="4297680"/>
          </a:xfrm>
          <a:prstGeom prst="roundRect">
            <a:avLst>
              <a:gd name="adj" fmla="val 3038"/>
            </a:avLst>
          </a:prstGeom>
          <a:solidFill>
            <a:srgbClr val="E9EEF5"/>
          </a:solidFill>
          <a:ln w="12700">
            <a:solidFill>
              <a:srgbClr val="E9EE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pic>
        <p:nvPicPr>
          <p:cNvPr id="14" name="Captura" descr="Lista de um jogo de juntas com as 13 peças, quantidade no kit e saldo avulso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92440" y="1874520"/>
            <a:ext cx="3429000" cy="4114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mada"/>
          <p:cNvSpPr txBox="1"/>
          <p:nvPr/>
        </p:nvSpPr>
        <p:spPr>
          <a:xfrm>
            <a:off x="548640" y="365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AVISE-ME · NOVIDADE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peça chegou: o sistema avisa e já oferece</a:t>
            </a:r>
            <a:endParaRPr lang="en-US" sz="3000" dirty="0"/>
          </a:p>
        </p:txBody>
      </p:sp>
      <p:sp>
        <p:nvSpPr>
          <p:cNvPr id="4" name="Cartão No JBoss"/>
          <p:cNvSpPr/>
          <p:nvPr/>
        </p:nvSpPr>
        <p:spPr>
          <a:xfrm>
            <a:off x="548640" y="1783080"/>
            <a:ext cx="3383280" cy="4297680"/>
          </a:xfrm>
          <a:prstGeom prst="roundRect">
            <a:avLst>
              <a:gd name="adj" fmla="val 3243"/>
            </a:avLst>
          </a:prstGeom>
          <a:solidFill>
            <a:srgbClr val="F8EAE6"/>
          </a:solidFill>
          <a:ln w="12700">
            <a:solidFill>
              <a:srgbClr val="F8EA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Ícone fundo"/>
          <p:cNvSpPr/>
          <p:nvPr/>
        </p:nvSpPr>
        <p:spPr>
          <a:xfrm>
            <a:off x="822960" y="2011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6" name="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214243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20574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5"/>
                </a:solidFill>
              </a:rPr>
              <a:t>NO JBOSS</a:t>
            </a:r>
            <a:endParaRPr lang="en-US" sz="1500" dirty="0"/>
          </a:p>
        </p:txBody>
      </p:sp>
      <p:sp>
        <p:nvSpPr>
          <p:cNvPr id="8" name="Problemas"/>
          <p:cNvSpPr txBox="1"/>
          <p:nvPr/>
        </p:nvSpPr>
        <p:spPr>
          <a:xfrm>
            <a:off x="822960" y="2743200"/>
            <a:ext cx="28803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Nada avisa quando a peça que esperamos chega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Difícil oferecer o que chegou pra cada cliente da linha</a:t>
            </a:r>
            <a:endParaRPr lang="en-US" sz="1500" dirty="0"/>
          </a:p>
        </p:txBody>
      </p:sp>
      <p:sp>
        <p:nvSpPr>
          <p:cNvPr id="9" name="Ícone fundo"/>
          <p:cNvSpPr/>
          <p:nvPr/>
        </p:nvSpPr>
        <p:spPr>
          <a:xfrm>
            <a:off x="4251960" y="1783080"/>
            <a:ext cx="502920" cy="502920"/>
          </a:xfrm>
          <a:prstGeom prst="ellipse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pic>
        <p:nvPicPr>
          <p:cNvPr id="10" name="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2719" y="1913839"/>
            <a:ext cx="241402" cy="24140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892040" y="1828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E8449"/>
                </a:solidFill>
              </a:rPr>
              <a:t>NO PARTSFLOW</a:t>
            </a:r>
            <a:endParaRPr lang="en-US" sz="1500" dirty="0"/>
          </a:p>
        </p:txBody>
      </p:sp>
      <p:sp>
        <p:nvSpPr>
          <p:cNvPr id="12" name="Soluções"/>
          <p:cNvSpPr txBox="1"/>
          <p:nvPr/>
        </p:nvSpPr>
        <p:spPr>
          <a:xfrm>
            <a:off x="4251960" y="2468880"/>
            <a:ext cx="356616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Botão direito no item: "🔔 Enviar para o Avise-me"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Chegou: "231247 chegou, cliente X estava aguardando"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Novo: mostra pra quem oferecer. Quem aguardava, quem cotou e não levou, quem já comprou e quem compra a marca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Uma mensagem por cliente, no WhatsApp ou e-mail</a:t>
            </a:r>
            <a:endParaRPr lang="en-US" sz="1500" dirty="0"/>
          </a:p>
        </p:txBody>
      </p:sp>
      <p:sp>
        <p:nvSpPr>
          <p:cNvPr id="13" name="Fundo da captura"/>
          <p:cNvSpPr/>
          <p:nvPr/>
        </p:nvSpPr>
        <p:spPr>
          <a:xfrm>
            <a:off x="8001000" y="1783080"/>
            <a:ext cx="3611880" cy="4297680"/>
          </a:xfrm>
          <a:prstGeom prst="roundRect">
            <a:avLst>
              <a:gd name="adj" fmla="val 3038"/>
            </a:avLst>
          </a:prstGeom>
          <a:solidFill>
            <a:srgbClr val="E9EEF5"/>
          </a:solidFill>
          <a:ln w="12700">
            <a:solidFill>
              <a:srgbClr val="E9EE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pic>
        <p:nvPicPr>
          <p:cNvPr id="14" name="Captura" descr="Janela Chegou: oferecer pros clientes, com a mensagem pronta para o WhatsApp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92440" y="1874520"/>
            <a:ext cx="3429000" cy="4114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mada"/>
          <p:cNvSpPr txBox="1"/>
          <p:nvPr/>
        </p:nvSpPr>
        <p:spPr>
          <a:xfrm>
            <a:off x="548640" y="365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SOLICITAÇÕES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Pedir pra compras e pros outros setores sem formulário</a:t>
            </a:r>
            <a:endParaRPr lang="en-US" sz="3000" dirty="0"/>
          </a:p>
        </p:txBody>
      </p:sp>
      <p:sp>
        <p:nvSpPr>
          <p:cNvPr id="4" name="Cartão No JBoss"/>
          <p:cNvSpPr/>
          <p:nvPr/>
        </p:nvSpPr>
        <p:spPr>
          <a:xfrm>
            <a:off x="548640" y="1783080"/>
            <a:ext cx="3383280" cy="4297680"/>
          </a:xfrm>
          <a:prstGeom prst="roundRect">
            <a:avLst>
              <a:gd name="adj" fmla="val 3243"/>
            </a:avLst>
          </a:prstGeom>
          <a:solidFill>
            <a:srgbClr val="F8EAE6"/>
          </a:solidFill>
          <a:ln w="12700">
            <a:solidFill>
              <a:srgbClr val="F8EA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Ícone fundo"/>
          <p:cNvSpPr/>
          <p:nvPr/>
        </p:nvSpPr>
        <p:spPr>
          <a:xfrm>
            <a:off x="822960" y="2011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6" name="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214243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20574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5"/>
                </a:solidFill>
              </a:rPr>
              <a:t>NO JBOSS</a:t>
            </a:r>
            <a:endParaRPr lang="en-US" sz="1500" dirty="0"/>
          </a:p>
        </p:txBody>
      </p:sp>
      <p:sp>
        <p:nvSpPr>
          <p:cNvPr id="8" name="Problemas"/>
          <p:cNvSpPr txBox="1"/>
          <p:nvPr/>
        </p:nvSpPr>
        <p:spPr>
          <a:xfrm>
            <a:off x="822960" y="2743200"/>
            <a:ext cx="28803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Solicitar compra: um monte de campos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Cada pedido pra outro setor é um caminho de menus</a:t>
            </a:r>
            <a:endParaRPr lang="en-US" sz="1500" dirty="0"/>
          </a:p>
        </p:txBody>
      </p:sp>
      <p:sp>
        <p:nvSpPr>
          <p:cNvPr id="9" name="Ícone fundo"/>
          <p:cNvSpPr/>
          <p:nvPr/>
        </p:nvSpPr>
        <p:spPr>
          <a:xfrm>
            <a:off x="4251960" y="1783080"/>
            <a:ext cx="502920" cy="502920"/>
          </a:xfrm>
          <a:prstGeom prst="ellipse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pic>
        <p:nvPicPr>
          <p:cNvPr id="10" name="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2719" y="1913839"/>
            <a:ext cx="241402" cy="24140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892040" y="1828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E8449"/>
                </a:solidFill>
              </a:rPr>
              <a:t>NO PARTSFLOW</a:t>
            </a:r>
            <a:endParaRPr lang="en-US" sz="1500" dirty="0"/>
          </a:p>
        </p:txBody>
      </p:sp>
      <p:sp>
        <p:nvSpPr>
          <p:cNvPr id="12" name="Soluções"/>
          <p:cNvSpPr txBox="1"/>
          <p:nvPr/>
        </p:nvSpPr>
        <p:spPr>
          <a:xfrm>
            <a:off x="4251960" y="2468880"/>
            <a:ext cx="356616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Solicitar compra direto da cotação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Atalhos prontos: carta de correção, transferência, ajuste de saldo, frete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RMA com busca e relatório; garantia Dana com link pro cliente mandar as fotos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Acompanha: solicitado → comprado → faturado → chegou</a:t>
            </a:r>
            <a:endParaRPr lang="en-US" sz="1500" dirty="0"/>
          </a:p>
        </p:txBody>
      </p:sp>
      <p:sp>
        <p:nvSpPr>
          <p:cNvPr id="13" name="Fundo da captura"/>
          <p:cNvSpPr/>
          <p:nvPr/>
        </p:nvSpPr>
        <p:spPr>
          <a:xfrm>
            <a:off x="8001000" y="1783080"/>
            <a:ext cx="3611880" cy="4297680"/>
          </a:xfrm>
          <a:prstGeom prst="roundRect">
            <a:avLst>
              <a:gd name="adj" fmla="val 3038"/>
            </a:avLst>
          </a:prstGeom>
          <a:solidFill>
            <a:srgbClr val="E9EEF5"/>
          </a:solidFill>
          <a:ln w="12700">
            <a:solidFill>
              <a:srgbClr val="E9EE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pic>
        <p:nvPicPr>
          <p:cNvPr id="14" name="Captura" descr="Consulta de RMA com busca, filtros e números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92440" y="1874520"/>
            <a:ext cx="3429000" cy="4114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mada"/>
          <p:cNvSpPr txBox="1"/>
          <p:nvPr/>
        </p:nvSpPr>
        <p:spPr>
          <a:xfrm>
            <a:off x="548640" y="365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COMPRAS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que comprar, quando comprar e por quanto vender</a:t>
            </a:r>
            <a:endParaRPr lang="en-US" sz="3000" dirty="0"/>
          </a:p>
        </p:txBody>
      </p:sp>
      <p:sp>
        <p:nvSpPr>
          <p:cNvPr id="4" name="Cartão"/>
          <p:cNvSpPr/>
          <p:nvPr/>
        </p:nvSpPr>
        <p:spPr>
          <a:xfrm>
            <a:off x="548640" y="1828800"/>
            <a:ext cx="3200400" cy="3017520"/>
          </a:xfrm>
          <a:prstGeom prst="roundRect">
            <a:avLst>
              <a:gd name="adj" fmla="val 3636"/>
            </a:avLst>
          </a:prstGeom>
          <a:solidFill>
            <a:srgbClr val="E9EEF5"/>
          </a:solidFill>
          <a:ln w="12700">
            <a:solidFill>
              <a:srgbClr val="E9EE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20574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8346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Dashboard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33756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Em poucos cliques: o que precisa comprar e quando.</a:t>
            </a:r>
            <a:endParaRPr lang="en-US" sz="1500" dirty="0"/>
          </a:p>
        </p:txBody>
      </p:sp>
      <p:sp>
        <p:nvSpPr>
          <p:cNvPr id="8" name="Seta"/>
          <p:cNvSpPr/>
          <p:nvPr/>
        </p:nvSpPr>
        <p:spPr>
          <a:xfrm>
            <a:off x="3886200" y="3154680"/>
            <a:ext cx="457200" cy="36576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Cartão"/>
          <p:cNvSpPr/>
          <p:nvPr/>
        </p:nvSpPr>
        <p:spPr>
          <a:xfrm>
            <a:off x="4480560" y="1828800"/>
            <a:ext cx="3200400" cy="3017520"/>
          </a:xfrm>
          <a:prstGeom prst="roundRect">
            <a:avLst>
              <a:gd name="adj" fmla="val 3636"/>
            </a:avLst>
          </a:prstGeom>
          <a:solidFill>
            <a:srgbClr val="E9EEF5"/>
          </a:solidFill>
          <a:ln w="12700">
            <a:solidFill>
              <a:srgbClr val="E9EE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800600" y="20574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8346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Mapa de compras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333756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Manda a cotação pros fornecedores e vê as respostas lado a lado.</a:t>
            </a:r>
            <a:endParaRPr lang="en-US" sz="1500" dirty="0"/>
          </a:p>
        </p:txBody>
      </p:sp>
      <p:sp>
        <p:nvSpPr>
          <p:cNvPr id="13" name="Seta"/>
          <p:cNvSpPr/>
          <p:nvPr/>
        </p:nvSpPr>
        <p:spPr>
          <a:xfrm>
            <a:off x="7818120" y="3154680"/>
            <a:ext cx="457200" cy="36576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Cartão"/>
          <p:cNvSpPr/>
          <p:nvPr/>
        </p:nvSpPr>
        <p:spPr>
          <a:xfrm>
            <a:off x="8412480" y="1828800"/>
            <a:ext cx="3200400" cy="3017520"/>
          </a:xfrm>
          <a:prstGeom prst="roundRect">
            <a:avLst>
              <a:gd name="adj" fmla="val 3636"/>
            </a:avLst>
          </a:prstGeom>
          <a:solidFill>
            <a:srgbClr val="E9EEF5"/>
          </a:solidFill>
          <a:ln w="12700">
            <a:solidFill>
              <a:srgbClr val="E9EE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732520" y="20574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3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8732520" y="28346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Preço calculado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732520" y="333756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Escolhe o fornecedor e o preço de venda já sai pela margem do cliente.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166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Sem planilha paralela, sem sair procurando o que está pra chegar.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mada"/>
          <p:cNvSpPr txBox="1"/>
          <p:nvPr/>
        </p:nvSpPr>
        <p:spPr>
          <a:xfrm>
            <a:off x="548640" y="365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GESTÃO DA CARTEIRA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tempo que sobra vai pra carteira e pra prospecção</a:t>
            </a:r>
            <a:endParaRPr lang="en-US" sz="3000" dirty="0"/>
          </a:p>
        </p:txBody>
      </p:sp>
      <p:pic>
        <p:nvPicPr>
          <p:cNvPr id="4" name="Captura" descr="Tela Meu dia: responder agora, cotações pra cobrar e clientes pra liga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6766560" cy="2706624"/>
          </a:xfrm>
          <a:prstGeom prst="rect">
            <a:avLst/>
          </a:prstGeom>
        </p:spPr>
      </p:pic>
      <p:pic>
        <p:nvPicPr>
          <p:cNvPr id="5" name="Captura" descr="Órbita 3D da carteira de cliente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589520" y="1737360"/>
            <a:ext cx="4023360" cy="2679192"/>
          </a:xfrm>
          <a:prstGeom prst="rect">
            <a:avLst/>
          </a:prstGeom>
        </p:spPr>
      </p:pic>
      <p:sp>
        <p:nvSpPr>
          <p:cNvPr id="6" name="Soluções"/>
          <p:cNvSpPr txBox="1"/>
          <p:nvPr/>
        </p:nvSpPr>
        <p:spPr>
          <a:xfrm>
            <a:off x="548640" y="47091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Meu dia: quem responder, que cotação cobrar e pra quem ligar, montado sozinho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Órbita: quem parou de comprar, quem está crescendo e quanto está em risco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Ficha do cliente com tudo: cotações, pedidos, títulos e mensagens registradas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mada"/>
          <p:cNvSpPr txBox="1"/>
          <p:nvPr/>
        </p:nvSpPr>
        <p:spPr>
          <a:xfrm>
            <a:off x="548640" y="365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VENDER MAIS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Venda a mais, sem esforço</a:t>
            </a:r>
            <a:endParaRPr lang="en-US" sz="3000" dirty="0"/>
          </a:p>
        </p:txBody>
      </p:sp>
      <p:pic>
        <p:nvPicPr>
          <p:cNvPr id="4" name="Captura" descr="Cotação de eixo com a sugestão Ofereça também: óleo 85W140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6583680" cy="2112264"/>
          </a:xfrm>
          <a:prstGeom prst="rect">
            <a:avLst/>
          </a:prstGeom>
        </p:spPr>
      </p:pic>
      <p:sp>
        <p:nvSpPr>
          <p:cNvPr id="5" name="Soluções"/>
          <p:cNvSpPr txBox="1"/>
          <p:nvPr/>
        </p:nvSpPr>
        <p:spPr>
          <a:xfrm>
            <a:off x="548640" y="4114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Ofereça também: na cotação de eixo, o sistema lembra o óleo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Catálogo no celular do cliente: ele escolhe pelo desenho, sem saber o código, e o pedido chega pronto</a:t>
            </a:r>
            <a:endParaRPr lang="en-US" sz="1600" dirty="0"/>
          </a:p>
        </p:txBody>
      </p:sp>
      <p:pic>
        <p:nvPicPr>
          <p:cNvPr id="6" name="Captura" descr="Catálogo de peças aberto no celular do cliente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406640" y="1737360"/>
            <a:ext cx="4206240" cy="22128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Antes e depois</a:t>
            </a:r>
            <a:endParaRPr lang="en-US" sz="3000" dirty="0"/>
          </a:p>
        </p:txBody>
      </p:sp>
      <p:graphicFrame>
        <p:nvGraphicFramePr>
          <p:cNvPr id="13" name="Tabela antes e depoi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291840"/>
                <a:gridCol w="4114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4F1E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Situação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4F1E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JBoss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08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PartsFlow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329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Informação do cliente e da peça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Atrás de muitos cliques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329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linha da cotação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329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Cotar pra outro CNPJ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Digitar tudo de novo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329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o cliente e pronto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329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 do cliente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 por item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329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Cola o print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329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Regras de cada cliente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cabeça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329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assistente aplica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329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Achar a peça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Catálogo, um por um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329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Técnica na cotação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329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Solicitar compra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Monte de campos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329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Direto da cotação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329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Peça que chegou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Ninguém avisa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329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Avisa e mostra pra quem oferecer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mada"/>
          <p:cNvSpPr txBox="1"/>
          <p:nvPr/>
        </p:nvSpPr>
        <p:spPr>
          <a:xfrm>
            <a:off x="548640" y="365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O QUE GANHAMOS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Tempo de volta pra vender</a:t>
            </a:r>
            <a:endParaRPr lang="en-US" sz="3000" dirty="0"/>
          </a:p>
        </p:txBody>
      </p:sp>
      <p:sp>
        <p:nvSpPr>
          <p:cNvPr id="4" name="Cartão"/>
          <p:cNvSpPr/>
          <p:nvPr/>
        </p:nvSpPr>
        <p:spPr>
          <a:xfrm>
            <a:off x="548640" y="178308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E9EEF5"/>
          </a:solidFill>
          <a:ln w="12700">
            <a:solidFill>
              <a:srgbClr val="E9EE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Ícone fundo"/>
          <p:cNvSpPr/>
          <p:nvPr/>
        </p:nvSpPr>
        <p:spPr>
          <a:xfrm>
            <a:off x="822960" y="20116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7810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788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Tempo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461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Pra carteira e prospecção</a:t>
            </a:r>
            <a:endParaRPr lang="en-US" sz="1500" dirty="0"/>
          </a:p>
        </p:txBody>
      </p:sp>
      <p:sp>
        <p:nvSpPr>
          <p:cNvPr id="9" name="Cartão"/>
          <p:cNvSpPr/>
          <p:nvPr/>
        </p:nvSpPr>
        <p:spPr>
          <a:xfrm>
            <a:off x="3383280" y="178308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E9EEF5"/>
          </a:solidFill>
          <a:ln w="12700">
            <a:solidFill>
              <a:srgbClr val="E9EE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Ícone fundo"/>
          <p:cNvSpPr/>
          <p:nvPr/>
        </p:nvSpPr>
        <p:spPr>
          <a:xfrm>
            <a:off x="3657600" y="20116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4021" y="217810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57600" y="2788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Menos erro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3657600" y="32461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 informação certa na tela</a:t>
            </a:r>
            <a:endParaRPr lang="en-US" sz="1500" dirty="0"/>
          </a:p>
        </p:txBody>
      </p:sp>
      <p:sp>
        <p:nvSpPr>
          <p:cNvPr id="14" name="Cartão"/>
          <p:cNvSpPr/>
          <p:nvPr/>
        </p:nvSpPr>
        <p:spPr>
          <a:xfrm>
            <a:off x="6217920" y="178308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E9EEF5"/>
          </a:solidFill>
          <a:ln w="12700">
            <a:solidFill>
              <a:srgbClr val="E9EE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Ícone fundo"/>
          <p:cNvSpPr/>
          <p:nvPr/>
        </p:nvSpPr>
        <p:spPr>
          <a:xfrm>
            <a:off x="6492240" y="20116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8661" y="217810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92240" y="2788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Menos estresse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6492240" y="32461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Sem acúmulo, sem correria</a:t>
            </a:r>
            <a:endParaRPr lang="en-US" sz="1500" dirty="0"/>
          </a:p>
        </p:txBody>
      </p:sp>
      <p:sp>
        <p:nvSpPr>
          <p:cNvPr id="19" name="Cartão"/>
          <p:cNvSpPr/>
          <p:nvPr/>
        </p:nvSpPr>
        <p:spPr>
          <a:xfrm>
            <a:off x="9052560" y="178308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E9EEF5"/>
          </a:solidFill>
          <a:ln w="12700">
            <a:solidFill>
              <a:srgbClr val="E9EE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Ícone fundo"/>
          <p:cNvSpPr/>
          <p:nvPr/>
        </p:nvSpPr>
        <p:spPr>
          <a:xfrm>
            <a:off x="9326880" y="20116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3301" y="217810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326880" y="2788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Mais venda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9326880" y="32461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Resposta rápida e oferta certa</a:t>
            </a:r>
            <a:endParaRPr lang="en-US" sz="1500" dirty="0"/>
          </a:p>
        </p:txBody>
      </p:sp>
      <p:sp>
        <p:nvSpPr>
          <p:cNvPr id="24" name="Proposta"/>
          <p:cNvSpPr/>
          <p:nvPr/>
        </p:nvSpPr>
        <p:spPr>
          <a:xfrm>
            <a:off x="548640" y="452628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Text 19"/>
          <p:cNvSpPr txBox="1"/>
          <p:nvPr/>
        </p:nvSpPr>
        <p:spPr>
          <a:xfrm>
            <a:off x="868680" y="466344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Proposta: </a:t>
            </a:r>
            <a:pPr indent="0" marL="0">
              <a:buNone/>
            </a:pPr>
            <a:r>
              <a:rPr lang="en-US" sz="1900" dirty="0">
                <a:solidFill>
                  <a:schemeClr val="accent4"/>
                </a:solidFill>
              </a:rPr>
              <a:t>piloto de 30 dias com [2] vendedores, medindo o tempo por cotação, as cotações por dia e quantas viram pedido.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07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accent4"/>
                </a:solidFill>
              </a:rPr>
              <a:t>Menos tempo procurando.</a:t>
            </a:r>
            <a:endParaRPr lang="en-US" sz="5200" dirty="0"/>
          </a:p>
          <a:p>
            <a:pPr algn="l" indent="0" marL="0">
              <a:buNone/>
            </a:pPr>
            <a:r>
              <a:rPr lang="en-US" sz="5200" b="1" dirty="0">
                <a:solidFill>
                  <a:schemeClr val="accent2"/>
                </a:solidFill>
              </a:rPr>
              <a:t>Mais tempo vendendo.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16052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6"/>
                </a:solidFill>
              </a:rPr>
              <a:t>Posso começar o piloto com [nome] e [nome] na segunda?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rtsFlow Triex">
  <a:themeElements>
    <a:clrScheme name="PartsFlow Triex">
      <a:dk1>
        <a:srgbClr val="13294B"/>
      </a:dk1>
      <a:lt1>
        <a:srgbClr val="FFFFFF"/>
      </a:lt1>
      <a:dk2>
        <a:srgbClr val="3E4F66"/>
      </a:dk2>
      <a:lt2>
        <a:srgbClr val="E9EEF5"/>
      </a:lt2>
      <a:accent1>
        <a:srgbClr val="C2591F"/>
      </a:accent1>
      <a:accent2>
        <a:srgbClr val="F08A4B"/>
      </a:accent2>
      <a:accent3>
        <a:srgbClr val="1C3760"/>
      </a:accent3>
      <a:accent4>
        <a:srgbClr val="F4F1EA"/>
      </a:accent4>
      <a:accent5>
        <a:srgbClr val="B23B3B"/>
      </a:accent5>
      <a:accent6>
        <a:srgbClr val="C9D6E8"/>
      </a:accent6>
      <a:hlink>
        <a:srgbClr val="1E8449"/>
      </a:hlink>
      <a:folHlink>
        <a:srgbClr val="6B7A90"/>
      </a:folHlink>
    </a:clrScheme>
    <a:fontScheme name="PartsFlow Trie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PartsFlow — o tempo de volta pra vender</dc:title>
  <dc:subject>PptxGenJS Presentation</dc:subject>
  <dc:creator>Triex</dc:creator>
  <cp:lastModifiedBy>Triex</cp:lastModifiedBy>
  <cp:revision>1</cp:revision>
  <dcterms:created xsi:type="dcterms:W3CDTF">2026-10-07T03:05:55Z</dcterms:created>
  <dcterms:modified xsi:type="dcterms:W3CDTF">2026-10-07T03:05:55Z</dcterms:modified>
</cp:coreProperties>
</file>