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 ganho" id="{84801a51-b860-24ba-9c06-e3ccbe987a91}">
          <p14:sldIdLst>
            <p14:sldId id="256"/>
            <p14:sldId id="257"/>
          </p14:sldIdLst>
        </p14:section>
        <p14:section name="A cotação" id="{f1740997-b36e-499b-0e9a-8f630f18e350}">
          <p14:sldIdLst>
            <p14:sldId id="258"/>
            <p14:sldId id="259"/>
          </p14:sldIdLst>
        </p14:section>
        <p14:section name="A carteira" id="{8fc60e47-7eda-1b30-1812-66e82ed6e6bb}">
          <p14:sldIdLst>
            <p14:sldId id="260"/>
            <p14:sldId id="261"/>
          </p14:sldIdLst>
        </p14:section>
        <p14:section name="Futuro" id="{e7ef207e-2d53-3c6a-bc92-988a899f3f1d}">
          <p14:sldIdLst>
            <p14:sldId id="262"/>
          </p14:sldIdLst>
        </p14:section>
        <p14:section name="Proposta" id="{19d21df5-93f4-5ab4-6024-c0ddd2a6641d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com o número, sem rodeio: hoje uma cotação de peça de motor leva mais de uma hora; no PartsFlow, com o catálogo lá dentro, menos de dez minutos. E já deixar claro: não substitui o JBoss, trabalha ao lado. O fiscal e o financeiro continuam no ERP.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Ler linha por linha perguntando: isso acontece aqui? A primeira linha é o número que vamos provar ao vivo. As outras são o que a tela da cotação já faz, que é o próximo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Esse é o slide pra mostrar AO VIVO. Roteiro: 1) colar o print da lista de um cliente; 2) escolher o cliente e mostrar os 15 mais comprados (no JBoss isso é puxar relatório); 3) mostrar saldo, margem e preço final na linha; 4) passar o mouse no último preço; 6) clicar na etiqueta do catálogo e mostrar o desenho e o kit; 7) a faixa Ofereça também; 8) trocar o cliente sem perder os itens. Cronometrar a cotação de motor inteira.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ao vivo: abrir o Assistente (Alt+O), escrever uma regra em português, e em seguida cotar um item daquele cliente: a marca bloqueada não sobe, a REI só aparece se faltar SPICER, a margem já vem certa. Ninguém precisa lembrar de cabeça.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a Órbita girando e o Resumo: X clientes parados e R$ Y por ano em risco (usar o número real). Pergunta pra plateia: quem desses a gente percebeu que parou? Hoje ninguém vê isso.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Isso já funciona. Mostrar no celular: abrir o link, tocar num número do desenho e pedir. O próximo passo (ainda não feito) é o portal do cliente: com login, ele cota sozinho digitando só código e quantidade.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prometer data: mostrar que o caminho existe. Começa ao lado do JBoss, sem risco. Com o tempo, integra: o saldo e os pedidos do ERP entram sozinhos, o cadastro alimenta o site e o Vendas On, e os avisos vão pelo WhatsApp oficial.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Pedir pouco e com saída fácil. Pergunta fechada no final: posso começar com [nome] e [nome] na segunda?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329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0704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200" b="1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160520"/>
            <a:ext cx="96926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PartsFlow · Triex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Alt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PartsFlow · Triex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Escuro">
    <p:bg>
      <p:bgPr>
        <a:solidFill>
          <a:srgbClr val="1329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6E8"/>
                </a:solidFill>
              </a:rPr>
              <a:t>PartsFlow · Triex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C9D6E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amada"/>
          <p:cNvSpPr txBox="1"/>
          <p:nvPr/>
        </p:nvSpPr>
        <p:spPr>
          <a:xfrm>
            <a:off x="731520" y="12801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accent2"/>
                </a:solidFill>
              </a:rPr>
              <a:t>PARTSFLOW · TRIEX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828800"/>
            <a:ext cx="10607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200" b="1" dirty="0">
                <a:solidFill>
                  <a:schemeClr val="accent4"/>
                </a:solidFill>
              </a:rPr>
              <a:t>Cotação de peça de motor:</a:t>
            </a:r>
            <a:endParaRPr lang="en-US" sz="5200" dirty="0"/>
          </a:p>
          <a:p>
            <a:pPr algn="l" indent="0" marL="0">
              <a:buNone/>
            </a:pPr>
            <a:r>
              <a:rPr lang="en-US" sz="5200" b="1" dirty="0">
                <a:solidFill>
                  <a:schemeClr val="accent2"/>
                </a:solidFill>
              </a:rPr>
              <a:t>de +1 hora pra menos de 10 min</a:t>
            </a:r>
            <a:endParaRPr lang="en-US" sz="5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416052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accent6"/>
                </a:solidFill>
              </a:rPr>
              <a:t>Trabalha ao lado do JBoss. Nada muda no ERP.</a:t>
            </a:r>
            <a:endParaRPr lang="en-US" sz="2200" dirty="0"/>
          </a:p>
        </p:txBody>
      </p:sp>
      <p:sp>
        <p:nvSpPr>
          <p:cNvPr id="5" name="Apresentador"/>
          <p:cNvSpPr txBox="1"/>
          <p:nvPr/>
        </p:nvSpPr>
        <p:spPr>
          <a:xfrm>
            <a:off x="731520" y="6126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[Nome de quem apresenta] · [data]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amada"/>
          <p:cNvSpPr txBox="1"/>
          <p:nvPr/>
        </p:nvSpPr>
        <p:spPr>
          <a:xfrm>
            <a:off x="548640" y="365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HOJE × COM O PARTSFLOW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 que muda no dia do vendedor</a:t>
            </a:r>
            <a:endParaRPr lang="en-US" sz="3000" dirty="0"/>
          </a:p>
        </p:txBody>
      </p:sp>
      <p:graphicFrame>
        <p:nvGraphicFramePr>
          <p:cNvPr id="3" name="Tabela hoje e PartsFlow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383280"/>
                <a:gridCol w="384048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4F1E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Situação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4F1E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Hoje (JBoss)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08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o PartsFlow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329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Cotação de peça de motor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B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Mais de 1 hora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Menos de 10 minutos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329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o cliente mais compra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B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Puxar relatório e montar lista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Aparece ao escolher o cliente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329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Último preço e margem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B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Atrás de vários cliques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 linha do item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329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 do cliente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B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Digitar item por item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Cola o print ou a foto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329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Regras de cada cliente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B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cabeça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assistente aplica sozinho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329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Oferecer o complementar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B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Depende da memória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sistema sugere na cotação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329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Cliente que parou de comprar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B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Ninguém vê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Aparece na Órbita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amada"/>
          <p:cNvSpPr txBox="1"/>
          <p:nvPr/>
        </p:nvSpPr>
        <p:spPr>
          <a:xfrm>
            <a:off x="548640" y="365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A TELA DE COTAÇÃO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Tudo o que já dá pra fazer direto da cotação</a:t>
            </a:r>
            <a:endParaRPr lang="en-US" sz="3000" dirty="0"/>
          </a:p>
        </p:txBody>
      </p:sp>
      <p:sp>
        <p:nvSpPr>
          <p:cNvPr id="4" name="Fundo da captura"/>
          <p:cNvSpPr/>
          <p:nvPr/>
        </p:nvSpPr>
        <p:spPr>
          <a:xfrm>
            <a:off x="457200" y="1600200"/>
            <a:ext cx="7635240" cy="4617720"/>
          </a:xfrm>
          <a:prstGeom prst="roundRect">
            <a:avLst>
              <a:gd name="adj" fmla="val 2376"/>
            </a:avLst>
          </a:prstGeom>
          <a:solidFill>
            <a:srgbClr val="E9EEF5"/>
          </a:solidFill>
          <a:ln w="12700">
            <a:solidFill>
              <a:srgbClr val="E9EE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pic>
        <p:nvPicPr>
          <p:cNvPr id="5" name="Captura" descr="Tela de cotação com números marcando cada função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0352" y="1673352"/>
            <a:ext cx="7488936" cy="4471416"/>
          </a:xfrm>
          <a:prstGeom prst="rect">
            <a:avLst/>
          </a:prstGeom>
        </p:spPr>
      </p:pic>
      <p:sp>
        <p:nvSpPr>
          <p:cNvPr id="6" name="Número"/>
          <p:cNvSpPr/>
          <p:nvPr/>
        </p:nvSpPr>
        <p:spPr>
          <a:xfrm>
            <a:off x="8275320" y="1664208"/>
            <a:ext cx="365760" cy="365760"/>
          </a:xfrm>
          <a:prstGeom prst="ellipse">
            <a:avLst/>
          </a:prstGeom>
          <a:solidFill>
            <a:srgbClr val="E2622A"/>
          </a:solidFill>
          <a:ln w="12700">
            <a:solidFill>
              <a:srgbClr val="E2622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75320" y="16642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Legenda 1"/>
          <p:cNvSpPr txBox="1"/>
          <p:nvPr/>
        </p:nvSpPr>
        <p:spPr>
          <a:xfrm>
            <a:off x="8732520" y="1609344"/>
            <a:ext cx="2971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3294B"/>
                </a:solidFill>
              </a:rPr>
              <a:t>Colar print ou carregar arquivo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3E4F66"/>
                </a:solidFill>
              </a:rPr>
              <a:t>foto, PDF ou Excel: a lista do cliente vira itens</a:t>
            </a:r>
            <a:endParaRPr lang="en-US" sz="1300" dirty="0"/>
          </a:p>
        </p:txBody>
      </p:sp>
      <p:sp>
        <p:nvSpPr>
          <p:cNvPr id="9" name="Número"/>
          <p:cNvSpPr/>
          <p:nvPr/>
        </p:nvSpPr>
        <p:spPr>
          <a:xfrm>
            <a:off x="8275320" y="2171700"/>
            <a:ext cx="365760" cy="365760"/>
          </a:xfrm>
          <a:prstGeom prst="ellipse">
            <a:avLst/>
          </a:prstGeom>
          <a:solidFill>
            <a:srgbClr val="E2622A"/>
          </a:solidFill>
          <a:ln w="12700">
            <a:solidFill>
              <a:srgbClr val="E2622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75320" y="21717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Legenda 2"/>
          <p:cNvSpPr txBox="1"/>
          <p:nvPr/>
        </p:nvSpPr>
        <p:spPr>
          <a:xfrm>
            <a:off x="8732520" y="2116836"/>
            <a:ext cx="2971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3294B"/>
                </a:solidFill>
              </a:rPr>
              <a:t>O que o cliente mais compra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3E4F66"/>
                </a:solidFill>
              </a:rPr>
              <a:t>15 itens e marcas; traz pra cotação com 1 clique</a:t>
            </a:r>
            <a:endParaRPr lang="en-US" sz="1300" dirty="0"/>
          </a:p>
        </p:txBody>
      </p:sp>
      <p:sp>
        <p:nvSpPr>
          <p:cNvPr id="12" name="Número"/>
          <p:cNvSpPr/>
          <p:nvPr/>
        </p:nvSpPr>
        <p:spPr>
          <a:xfrm>
            <a:off x="8275320" y="2679192"/>
            <a:ext cx="365760" cy="365760"/>
          </a:xfrm>
          <a:prstGeom prst="ellipse">
            <a:avLst/>
          </a:prstGeom>
          <a:solidFill>
            <a:srgbClr val="E2622A"/>
          </a:solidFill>
          <a:ln w="12700">
            <a:solidFill>
              <a:srgbClr val="E2622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75320" y="2679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Legenda 3"/>
          <p:cNvSpPr txBox="1"/>
          <p:nvPr/>
        </p:nvSpPr>
        <p:spPr>
          <a:xfrm>
            <a:off x="8732520" y="2624328"/>
            <a:ext cx="2971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3294B"/>
                </a:solidFill>
              </a:rPr>
              <a:t>Na linha do item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3E4F66"/>
                </a:solidFill>
              </a:rPr>
              <a:t>saldo, status, preço final com IPI/ST e margem</a:t>
            </a:r>
            <a:endParaRPr lang="en-US" sz="1300" dirty="0"/>
          </a:p>
        </p:txBody>
      </p:sp>
      <p:sp>
        <p:nvSpPr>
          <p:cNvPr id="15" name="Número"/>
          <p:cNvSpPr/>
          <p:nvPr/>
        </p:nvSpPr>
        <p:spPr>
          <a:xfrm>
            <a:off x="8275320" y="3186684"/>
            <a:ext cx="365760" cy="365760"/>
          </a:xfrm>
          <a:prstGeom prst="ellipse">
            <a:avLst/>
          </a:prstGeom>
          <a:solidFill>
            <a:srgbClr val="E2622A"/>
          </a:solidFill>
          <a:ln w="12700">
            <a:solidFill>
              <a:srgbClr val="E2622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75320" y="31866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Legenda 4"/>
          <p:cNvSpPr txBox="1"/>
          <p:nvPr/>
        </p:nvSpPr>
        <p:spPr>
          <a:xfrm>
            <a:off x="8732520" y="3131820"/>
            <a:ext cx="2971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3294B"/>
                </a:solidFill>
              </a:rPr>
              <a:t>Último preço do cliente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3E4F66"/>
                </a:solidFill>
              </a:rPr>
              <a:t>o que vendeu e o que só cotou</a:t>
            </a:r>
            <a:endParaRPr lang="en-US" sz="1300" dirty="0"/>
          </a:p>
        </p:txBody>
      </p:sp>
      <p:sp>
        <p:nvSpPr>
          <p:cNvPr id="18" name="Número"/>
          <p:cNvSpPr/>
          <p:nvPr/>
        </p:nvSpPr>
        <p:spPr>
          <a:xfrm>
            <a:off x="8275320" y="3694176"/>
            <a:ext cx="365760" cy="365760"/>
          </a:xfrm>
          <a:prstGeom prst="ellipse">
            <a:avLst/>
          </a:prstGeom>
          <a:solidFill>
            <a:srgbClr val="E2622A"/>
          </a:solidFill>
          <a:ln w="12700">
            <a:solidFill>
              <a:srgbClr val="E2622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275320" y="36941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0" name="Legenda 5"/>
          <p:cNvSpPr txBox="1"/>
          <p:nvPr/>
        </p:nvSpPr>
        <p:spPr>
          <a:xfrm>
            <a:off x="8732520" y="3639312"/>
            <a:ext cx="2971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3294B"/>
                </a:solidFill>
              </a:rPr>
              <a:t>Código do cliente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3E4F66"/>
                </a:solidFill>
              </a:rPr>
              <a:t>a conversão aparece embaixo do nosso</a:t>
            </a:r>
            <a:endParaRPr lang="en-US" sz="1300" dirty="0"/>
          </a:p>
        </p:txBody>
      </p:sp>
      <p:sp>
        <p:nvSpPr>
          <p:cNvPr id="21" name="Número"/>
          <p:cNvSpPr/>
          <p:nvPr/>
        </p:nvSpPr>
        <p:spPr>
          <a:xfrm>
            <a:off x="8275320" y="4201668"/>
            <a:ext cx="365760" cy="365760"/>
          </a:xfrm>
          <a:prstGeom prst="ellipse">
            <a:avLst/>
          </a:prstGeom>
          <a:solidFill>
            <a:srgbClr val="E2622A"/>
          </a:solidFill>
          <a:ln w="12700">
            <a:solidFill>
              <a:srgbClr val="E2622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275320" y="42016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23" name="Legenda 6"/>
          <p:cNvSpPr txBox="1"/>
          <p:nvPr/>
        </p:nvSpPr>
        <p:spPr>
          <a:xfrm>
            <a:off x="8732520" y="4146804"/>
            <a:ext cx="2971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3294B"/>
                </a:solidFill>
              </a:rPr>
              <a:t>Catálogo e kit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3E4F66"/>
                </a:solidFill>
              </a:rPr>
              <a:t>grupo e nº do desenho; "vem no kit" e o saldo</a:t>
            </a:r>
            <a:endParaRPr lang="en-US" sz="1300" dirty="0"/>
          </a:p>
        </p:txBody>
      </p:sp>
      <p:sp>
        <p:nvSpPr>
          <p:cNvPr id="24" name="Número"/>
          <p:cNvSpPr/>
          <p:nvPr/>
        </p:nvSpPr>
        <p:spPr>
          <a:xfrm>
            <a:off x="8275320" y="4709160"/>
            <a:ext cx="365760" cy="365760"/>
          </a:xfrm>
          <a:prstGeom prst="ellipse">
            <a:avLst/>
          </a:prstGeom>
          <a:solidFill>
            <a:srgbClr val="E2622A"/>
          </a:solidFill>
          <a:ln w="12700">
            <a:solidFill>
              <a:srgbClr val="E2622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27532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7</a:t>
            </a:r>
            <a:endParaRPr lang="en-US" sz="1400" dirty="0"/>
          </a:p>
        </p:txBody>
      </p:sp>
      <p:sp>
        <p:nvSpPr>
          <p:cNvPr id="26" name="Legenda 7"/>
          <p:cNvSpPr txBox="1"/>
          <p:nvPr/>
        </p:nvSpPr>
        <p:spPr>
          <a:xfrm>
            <a:off x="8732520" y="4654296"/>
            <a:ext cx="2971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3294B"/>
                </a:solidFill>
              </a:rPr>
              <a:t>Ofereça também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3E4F66"/>
                </a:solidFill>
              </a:rPr>
              <a:t>o sistema sugere o complementar</a:t>
            </a:r>
            <a:endParaRPr lang="en-US" sz="1300" dirty="0"/>
          </a:p>
        </p:txBody>
      </p:sp>
      <p:sp>
        <p:nvSpPr>
          <p:cNvPr id="27" name="Número"/>
          <p:cNvSpPr/>
          <p:nvPr/>
        </p:nvSpPr>
        <p:spPr>
          <a:xfrm>
            <a:off x="8275320" y="5216652"/>
            <a:ext cx="365760" cy="365760"/>
          </a:xfrm>
          <a:prstGeom prst="ellipse">
            <a:avLst/>
          </a:prstGeom>
          <a:solidFill>
            <a:srgbClr val="E2622A"/>
          </a:solidFill>
          <a:ln w="12700">
            <a:solidFill>
              <a:srgbClr val="E2622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75320" y="5216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8</a:t>
            </a:r>
            <a:endParaRPr lang="en-US" sz="1400" dirty="0"/>
          </a:p>
        </p:txBody>
      </p:sp>
      <p:sp>
        <p:nvSpPr>
          <p:cNvPr id="29" name="Legenda 8"/>
          <p:cNvSpPr txBox="1"/>
          <p:nvPr/>
        </p:nvSpPr>
        <p:spPr>
          <a:xfrm>
            <a:off x="8732520" y="5161788"/>
            <a:ext cx="2971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3294B"/>
                </a:solidFill>
              </a:rPr>
              <a:t>Trocar cliente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3E4F66"/>
                </a:solidFill>
              </a:rPr>
              <a:t>outro CNPJ sem redigitar os itens</a:t>
            </a:r>
            <a:endParaRPr lang="en-US" sz="1300" dirty="0"/>
          </a:p>
        </p:txBody>
      </p:sp>
      <p:sp>
        <p:nvSpPr>
          <p:cNvPr id="30" name="Número"/>
          <p:cNvSpPr/>
          <p:nvPr/>
        </p:nvSpPr>
        <p:spPr>
          <a:xfrm>
            <a:off x="8275320" y="5724144"/>
            <a:ext cx="365760" cy="365760"/>
          </a:xfrm>
          <a:prstGeom prst="ellipse">
            <a:avLst/>
          </a:prstGeom>
          <a:solidFill>
            <a:srgbClr val="E2622A"/>
          </a:solidFill>
          <a:ln w="12700">
            <a:solidFill>
              <a:srgbClr val="E2622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75320" y="5724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9</a:t>
            </a:r>
            <a:endParaRPr lang="en-US" sz="1400" dirty="0"/>
          </a:p>
        </p:txBody>
      </p:sp>
      <p:sp>
        <p:nvSpPr>
          <p:cNvPr id="32" name="Legenda 9"/>
          <p:cNvSpPr txBox="1"/>
          <p:nvPr/>
        </p:nvSpPr>
        <p:spPr>
          <a:xfrm>
            <a:off x="8732520" y="5669280"/>
            <a:ext cx="2971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3294B"/>
                </a:solidFill>
              </a:rPr>
              <a:t>Ações do item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3E4F66"/>
                </a:solidFill>
              </a:rPr>
              <a:t>solicitar compra, avise-me, RMAs, substitutos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amada"/>
          <p:cNvSpPr txBox="1"/>
          <p:nvPr/>
        </p:nvSpPr>
        <p:spPr>
          <a:xfrm>
            <a:off x="548640" y="365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LISTA E ASSISTENTE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 lista entra pelo print, e as regras do cliente seguem sozinhas</a:t>
            </a:r>
            <a:endParaRPr lang="en-US" sz="3000" dirty="0"/>
          </a:p>
        </p:txBody>
      </p:sp>
      <p:sp>
        <p:nvSpPr>
          <p:cNvPr id="4" name="Cartão"/>
          <p:cNvSpPr/>
          <p:nvPr/>
        </p:nvSpPr>
        <p:spPr>
          <a:xfrm>
            <a:off x="548640" y="1783080"/>
            <a:ext cx="3291840" cy="4297680"/>
          </a:xfrm>
          <a:prstGeom prst="roundRect">
            <a:avLst>
              <a:gd name="adj" fmla="val 3333"/>
            </a:avLst>
          </a:prstGeom>
          <a:solidFill>
            <a:srgbClr val="E9EEF5"/>
          </a:solidFill>
          <a:ln w="12700">
            <a:solidFill>
              <a:srgbClr val="E9EE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Ícone fundo"/>
          <p:cNvSpPr/>
          <p:nvPr/>
        </p:nvSpPr>
        <p:spPr>
          <a:xfrm>
            <a:off x="822960" y="201168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494" y="216621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274320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Lista por foto ou print</a:t>
            </a:r>
            <a:endParaRPr lang="en-US" sz="1900" dirty="0"/>
          </a:p>
        </p:txBody>
      </p:sp>
      <p:sp>
        <p:nvSpPr>
          <p:cNvPr id="8" name="Soluções"/>
          <p:cNvSpPr txBox="1"/>
          <p:nvPr/>
        </p:nvSpPr>
        <p:spPr>
          <a:xfrm>
            <a:off x="822960" y="3246120"/>
            <a:ext cx="28346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O cliente manda print, foto, PDF ou Excel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Cola na cotação: os itens entram com código e quantidade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Nada de digitar item por item</a:t>
            </a:r>
            <a:endParaRPr lang="en-US" sz="1500" dirty="0"/>
          </a:p>
        </p:txBody>
      </p:sp>
      <p:sp>
        <p:nvSpPr>
          <p:cNvPr id="9" name="Cartão"/>
          <p:cNvSpPr/>
          <p:nvPr/>
        </p:nvSpPr>
        <p:spPr>
          <a:xfrm>
            <a:off x="4069080" y="1783080"/>
            <a:ext cx="3291840" cy="4297680"/>
          </a:xfrm>
          <a:prstGeom prst="roundRect">
            <a:avLst>
              <a:gd name="adj" fmla="val 3333"/>
            </a:avLst>
          </a:prstGeom>
          <a:solidFill>
            <a:srgbClr val="E9EEF5"/>
          </a:solidFill>
          <a:ln w="12700">
            <a:solidFill>
              <a:srgbClr val="E9EE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Ícone fundo"/>
          <p:cNvSpPr/>
          <p:nvPr/>
        </p:nvSpPr>
        <p:spPr>
          <a:xfrm>
            <a:off x="4343400" y="201168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7934" y="216621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343400" y="274320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Assistente de vendas</a:t>
            </a:r>
            <a:endParaRPr lang="en-US" sz="1900" dirty="0"/>
          </a:p>
        </p:txBody>
      </p:sp>
      <p:sp>
        <p:nvSpPr>
          <p:cNvPr id="13" name="Soluções"/>
          <p:cNvSpPr txBox="1"/>
          <p:nvPr/>
        </p:nvSpPr>
        <p:spPr>
          <a:xfrm>
            <a:off x="4343400" y="3246120"/>
            <a:ext cx="28346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Escreve a regra do seu jeito: "não cotar genérico pra esse cliente"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Ao escolher o cliente, a cotação já sai com as regras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Regra geral (empresa) e por cliente</a:t>
            </a:r>
            <a:endParaRPr lang="en-US" sz="1500" dirty="0"/>
          </a:p>
        </p:txBody>
      </p:sp>
      <p:sp>
        <p:nvSpPr>
          <p:cNvPr id="14" name="Fundo da captura"/>
          <p:cNvSpPr/>
          <p:nvPr/>
        </p:nvSpPr>
        <p:spPr>
          <a:xfrm>
            <a:off x="7589520" y="1783080"/>
            <a:ext cx="4023360" cy="4297680"/>
          </a:xfrm>
          <a:prstGeom prst="roundRect">
            <a:avLst>
              <a:gd name="adj" fmla="val 2727"/>
            </a:avLst>
          </a:prstGeom>
          <a:solidFill>
            <a:srgbClr val="E9EEF5"/>
          </a:solidFill>
          <a:ln w="12700">
            <a:solidFill>
              <a:srgbClr val="E9EE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pic>
        <p:nvPicPr>
          <p:cNvPr id="15" name="Captura" descr="Assistente de vendas com as regras de um cliente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680960" y="1856232"/>
            <a:ext cx="3840480" cy="415137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amada"/>
          <p:cNvSpPr txBox="1"/>
          <p:nvPr/>
        </p:nvSpPr>
        <p:spPr>
          <a:xfrm>
            <a:off x="548640" y="365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ÓRBITA DA CARTEIRA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 carteira inteira numa tela</a:t>
            </a:r>
            <a:endParaRPr lang="en-US" sz="3000" dirty="0"/>
          </a:p>
        </p:txBody>
      </p:sp>
      <p:pic>
        <p:nvPicPr>
          <p:cNvPr id="4" name="Captura" descr="Órbita 3D: cada planeta é um client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37360"/>
            <a:ext cx="5120640" cy="3410712"/>
          </a:xfrm>
          <a:prstGeom prst="rect">
            <a:avLst/>
          </a:prstGeom>
        </p:spPr>
      </p:pic>
      <p:pic>
        <p:nvPicPr>
          <p:cNvPr id="5" name="Captura" descr="Resumo da carteira: ativos, parados, dinheiro em risco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897880" y="1737360"/>
            <a:ext cx="5715000" cy="2322576"/>
          </a:xfrm>
          <a:prstGeom prst="rect">
            <a:avLst/>
          </a:prstGeom>
        </p:spPr>
      </p:pic>
      <p:sp>
        <p:nvSpPr>
          <p:cNvPr id="6" name="Soluções"/>
          <p:cNvSpPr txBox="1"/>
          <p:nvPr/>
        </p:nvSpPr>
        <p:spPr>
          <a:xfrm>
            <a:off x="5897880" y="4251960"/>
            <a:ext cx="5715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Quanto mais perto do centro, mais recente a compra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Quem parou de comprar fica vermelho, e o sistema soma quanto está em risco por ano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Quem está crescendo, quem é potencial e quem só cota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Clicou no cliente: a ficha com cotações, pedidos e o que ele mais compra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amada"/>
          <p:cNvSpPr txBox="1"/>
          <p:nvPr/>
        </p:nvSpPr>
        <p:spPr>
          <a:xfrm>
            <a:off x="548640" y="365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PRONTO HOJE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 cliente pede a peça pelo link, sem saber o código</a:t>
            </a:r>
            <a:endParaRPr lang="en-US" sz="3000" dirty="0"/>
          </a:p>
        </p:txBody>
      </p:sp>
      <p:sp>
        <p:nvSpPr>
          <p:cNvPr id="4" name="Soluções"/>
          <p:cNvSpPr txBox="1"/>
          <p:nvPr/>
        </p:nvSpPr>
        <p:spPr>
          <a:xfrm>
            <a:off x="548640" y="1783080"/>
            <a:ext cx="338328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Mandamos o link do catálogo (eixo, transmissão...)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Ele informa a máquina, toca no número da peça no desenho e pede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O pedido chega pra gente com o código e o saldo, e vira cotação com 1 clique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O link não mostra nosso nome: o cliente pode repassar pro cliente dele</a:t>
            </a:r>
            <a:endParaRPr lang="en-US" sz="1500" dirty="0"/>
          </a:p>
        </p:txBody>
      </p:sp>
      <p:sp>
        <p:nvSpPr>
          <p:cNvPr id="5" name="Fundo da captura"/>
          <p:cNvSpPr/>
          <p:nvPr/>
        </p:nvSpPr>
        <p:spPr>
          <a:xfrm>
            <a:off x="4160520" y="1783080"/>
            <a:ext cx="7452360" cy="4069080"/>
          </a:xfrm>
          <a:prstGeom prst="roundRect">
            <a:avLst>
              <a:gd name="adj" fmla="val 2697"/>
            </a:avLst>
          </a:prstGeom>
          <a:solidFill>
            <a:srgbClr val="E9EEF5"/>
          </a:solidFill>
          <a:ln w="12700">
            <a:solidFill>
              <a:srgbClr val="E9EE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pic>
        <p:nvPicPr>
          <p:cNvPr id="6" name="Captura" descr="Catálogo aberto no celular do cliente: máquina, desenho, peça e pedido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251960" y="1856232"/>
            <a:ext cx="7269480" cy="39136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amada"/>
          <p:cNvSpPr txBox="1"/>
          <p:nvPr/>
        </p:nvSpPr>
        <p:spPr>
          <a:xfrm>
            <a:off x="548640" y="365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DAQUI PRA FRENTE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Hoje ao lado do JBoss. Amanhã, integrado.</a:t>
            </a:r>
            <a:endParaRPr lang="en-US" sz="3000" dirty="0"/>
          </a:p>
        </p:txBody>
      </p:sp>
      <p:sp>
        <p:nvSpPr>
          <p:cNvPr id="4" name="PartsFlow"/>
          <p:cNvSpPr/>
          <p:nvPr/>
        </p:nvSpPr>
        <p:spPr>
          <a:xfrm>
            <a:off x="4727448" y="3246120"/>
            <a:ext cx="2743200" cy="1097280"/>
          </a:xfrm>
          <a:prstGeom prst="roundRect">
            <a:avLst>
              <a:gd name="adj" fmla="val 12500"/>
            </a:avLst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727448" y="324612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4F1EA"/>
                </a:solidFill>
              </a:rPr>
              <a:t>PartsFlow</a:t>
            </a:r>
            <a:endParaRPr lang="en-US" sz="2600" dirty="0"/>
          </a:p>
        </p:txBody>
      </p:sp>
      <p:sp>
        <p:nvSpPr>
          <p:cNvPr id="6" name="Cartão"/>
          <p:cNvSpPr/>
          <p:nvPr/>
        </p:nvSpPr>
        <p:spPr>
          <a:xfrm>
            <a:off x="548640" y="1783080"/>
            <a:ext cx="3108960" cy="1325880"/>
          </a:xfrm>
          <a:prstGeom prst="roundRect">
            <a:avLst>
              <a:gd name="adj" fmla="val 8276"/>
            </a:avLst>
          </a:prstGeom>
          <a:solidFill>
            <a:srgbClr val="E9EEF5"/>
          </a:solidFill>
          <a:ln w="12700">
            <a:solidFill>
              <a:srgbClr val="E9EE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77240" y="1920240"/>
            <a:ext cx="2651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94B"/>
                </a:solidFill>
              </a:rPr>
              <a:t>JBoss / ERP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3E4F66"/>
                </a:solidFill>
              </a:rPr>
              <a:t>Saldo, pedidos e preço entrando sozinhos</a:t>
            </a:r>
            <a:endParaRPr lang="en-US" sz="1800" dirty="0"/>
          </a:p>
        </p:txBody>
      </p:sp>
      <p:sp>
        <p:nvSpPr>
          <p:cNvPr id="8" name="Ligação"/>
          <p:cNvSpPr/>
          <p:nvPr/>
        </p:nvSpPr>
        <p:spPr>
          <a:xfrm>
            <a:off x="3657600" y="3108960"/>
            <a:ext cx="1069848" cy="137160"/>
          </a:xfrm>
          <a:prstGeom prst="line">
            <a:avLst/>
          </a:prstGeom>
          <a:noFill/>
          <a:ln w="25400">
            <a:solidFill>
              <a:srgbClr val="C2591F"/>
            </a:solidFill>
            <a:prstDash val="dash"/>
          </a:ln>
        </p:spPr>
      </p:sp>
      <p:sp>
        <p:nvSpPr>
          <p:cNvPr id="9" name="Cartão"/>
          <p:cNvSpPr/>
          <p:nvPr/>
        </p:nvSpPr>
        <p:spPr>
          <a:xfrm>
            <a:off x="8549640" y="1783080"/>
            <a:ext cx="3108960" cy="1325880"/>
          </a:xfrm>
          <a:prstGeom prst="roundRect">
            <a:avLst>
              <a:gd name="adj" fmla="val 8276"/>
            </a:avLst>
          </a:prstGeom>
          <a:solidFill>
            <a:srgbClr val="E9EEF5"/>
          </a:solidFill>
          <a:ln w="12700">
            <a:solidFill>
              <a:srgbClr val="E9EE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778240" y="1920240"/>
            <a:ext cx="2651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94B"/>
                </a:solidFill>
              </a:rPr>
              <a:t>Nosso site de vendas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3E4F66"/>
                </a:solidFill>
              </a:rPr>
              <a:t>Mesmo cadastro, aplicação e foto</a:t>
            </a:r>
            <a:endParaRPr lang="en-US" sz="1800" dirty="0"/>
          </a:p>
        </p:txBody>
      </p:sp>
      <p:sp>
        <p:nvSpPr>
          <p:cNvPr id="11" name="Ligação"/>
          <p:cNvSpPr/>
          <p:nvPr/>
        </p:nvSpPr>
        <p:spPr>
          <a:xfrm flipV="1">
            <a:off x="7470648" y="3108960"/>
            <a:ext cx="1078992" cy="137160"/>
          </a:xfrm>
          <a:prstGeom prst="line">
            <a:avLst/>
          </a:prstGeom>
          <a:noFill/>
          <a:ln w="25400">
            <a:solidFill>
              <a:srgbClr val="C2591F"/>
            </a:solidFill>
            <a:prstDash val="dash"/>
          </a:ln>
        </p:spPr>
      </p:sp>
      <p:sp>
        <p:nvSpPr>
          <p:cNvPr id="12" name="Cartão"/>
          <p:cNvSpPr/>
          <p:nvPr/>
        </p:nvSpPr>
        <p:spPr>
          <a:xfrm>
            <a:off x="548640" y="4572000"/>
            <a:ext cx="3108960" cy="1325880"/>
          </a:xfrm>
          <a:prstGeom prst="roundRect">
            <a:avLst>
              <a:gd name="adj" fmla="val 8276"/>
            </a:avLst>
          </a:prstGeom>
          <a:solidFill>
            <a:srgbClr val="E9EEF5"/>
          </a:solidFill>
          <a:ln w="12700">
            <a:solidFill>
              <a:srgbClr val="E9EE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77240" y="4709160"/>
            <a:ext cx="2651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94B"/>
                </a:solidFill>
              </a:rPr>
              <a:t>Vendas On e marketplaces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3E4F66"/>
                </a:solidFill>
              </a:rPr>
              <a:t>Anúncio e pedido sem redigitar</a:t>
            </a:r>
            <a:endParaRPr lang="en-US" sz="1800" dirty="0"/>
          </a:p>
        </p:txBody>
      </p:sp>
      <p:sp>
        <p:nvSpPr>
          <p:cNvPr id="14" name="Ligação"/>
          <p:cNvSpPr/>
          <p:nvPr/>
        </p:nvSpPr>
        <p:spPr>
          <a:xfrm flipV="1">
            <a:off x="3657600" y="4343400"/>
            <a:ext cx="1069848" cy="228600"/>
          </a:xfrm>
          <a:prstGeom prst="line">
            <a:avLst/>
          </a:prstGeom>
          <a:noFill/>
          <a:ln w="25400">
            <a:solidFill>
              <a:srgbClr val="C2591F"/>
            </a:solidFill>
            <a:prstDash val="dash"/>
          </a:ln>
        </p:spPr>
      </p:sp>
      <p:sp>
        <p:nvSpPr>
          <p:cNvPr id="15" name="Cartão"/>
          <p:cNvSpPr/>
          <p:nvPr/>
        </p:nvSpPr>
        <p:spPr>
          <a:xfrm>
            <a:off x="8549640" y="4572000"/>
            <a:ext cx="3108960" cy="1325880"/>
          </a:xfrm>
          <a:prstGeom prst="roundRect">
            <a:avLst>
              <a:gd name="adj" fmla="val 8276"/>
            </a:avLst>
          </a:prstGeom>
          <a:solidFill>
            <a:srgbClr val="E9EEF5"/>
          </a:solidFill>
          <a:ln w="12700">
            <a:solidFill>
              <a:srgbClr val="E9EE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778240" y="4709160"/>
            <a:ext cx="2651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94B"/>
                </a:solidFill>
              </a:rPr>
              <a:t>WhatsApp oficial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3E4F66"/>
                </a:solidFill>
              </a:rPr>
              <a:t>Avisar pedido emitido e faturado</a:t>
            </a:r>
            <a:endParaRPr lang="en-US" sz="1800" dirty="0"/>
          </a:p>
        </p:txBody>
      </p:sp>
      <p:sp>
        <p:nvSpPr>
          <p:cNvPr id="17" name="Ligação"/>
          <p:cNvSpPr/>
          <p:nvPr/>
        </p:nvSpPr>
        <p:spPr>
          <a:xfrm>
            <a:off x="7470648" y="4343400"/>
            <a:ext cx="1078992" cy="228600"/>
          </a:xfrm>
          <a:prstGeom prst="line">
            <a:avLst/>
          </a:prstGeom>
          <a:noFill/>
          <a:ln w="25400">
            <a:solidFill>
              <a:srgbClr val="C2591F"/>
            </a:solidFill>
            <a:prstDash val="dash"/>
          </a:ln>
        </p:spPr>
      </p:sp>
      <p:sp>
        <p:nvSpPr>
          <p:cNvPr id="18" name="Text 16"/>
          <p:cNvSpPr txBox="1"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E4F66"/>
                </a:solidFill>
              </a:rPr>
              <a:t>Portal do cliente (próximo passo): com login, ele cota sozinho digitando só código e quantidade.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07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200" b="1" dirty="0">
                <a:solidFill>
                  <a:schemeClr val="accent4"/>
                </a:solidFill>
              </a:rPr>
              <a:t>Piloto de 30 dias.</a:t>
            </a:r>
            <a:endParaRPr lang="en-US" sz="5200" dirty="0"/>
          </a:p>
          <a:p>
            <a:pPr algn="l" indent="0" marL="0">
              <a:buNone/>
            </a:pPr>
            <a:r>
              <a:rPr lang="en-US" sz="5200" b="1" dirty="0">
                <a:solidFill>
                  <a:schemeClr val="accent2"/>
                </a:solidFill>
              </a:rPr>
              <a:t>Sem mexer no ERP.</a:t>
            </a: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16052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accent6"/>
                </a:solidFill>
              </a:rPr>
              <a:t>[2] vendedores · medimos tempo de cotação de motor, cotações por dia e quantas viram pedido. Se não melhorar, paramos.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rtsFlow Triex">
  <a:themeElements>
    <a:clrScheme name="PartsFlow Triex">
      <a:dk1>
        <a:srgbClr val="13294B"/>
      </a:dk1>
      <a:lt1>
        <a:srgbClr val="FFFFFF"/>
      </a:lt1>
      <a:dk2>
        <a:srgbClr val="3E4F66"/>
      </a:dk2>
      <a:lt2>
        <a:srgbClr val="E9EEF5"/>
      </a:lt2>
      <a:accent1>
        <a:srgbClr val="C2591F"/>
      </a:accent1>
      <a:accent2>
        <a:srgbClr val="F08A4B"/>
      </a:accent2>
      <a:accent3>
        <a:srgbClr val="1C3760"/>
      </a:accent3>
      <a:accent4>
        <a:srgbClr val="F4F1EA"/>
      </a:accent4>
      <a:accent5>
        <a:srgbClr val="B23B3B"/>
      </a:accent5>
      <a:accent6>
        <a:srgbClr val="C9D6E8"/>
      </a:accent6>
      <a:hlink>
        <a:srgbClr val="1E8449"/>
      </a:hlink>
      <a:folHlink>
        <a:srgbClr val="6B7A90"/>
      </a:folHlink>
    </a:clrScheme>
    <a:fontScheme name="PartsFlow Triex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PartsFlow — cotação de motor em 10 minutos</dc:title>
  <dc:subject>PptxGenJS Presentation</dc:subject>
  <dc:creator>Triex</dc:creator>
  <cp:lastModifiedBy>Triex</cp:lastModifiedBy>
  <cp:revision>1</cp:revision>
  <dcterms:created xsi:type="dcterms:W3CDTF">2026-10-07T14:42:34Z</dcterms:created>
  <dcterms:modified xsi:type="dcterms:W3CDTF">2026-10-07T14:42:34Z</dcterms:modified>
</cp:coreProperties>
</file>