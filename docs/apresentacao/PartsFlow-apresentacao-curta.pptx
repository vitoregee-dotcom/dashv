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 ganho" id="{0f7d58f8-16b0-ce21-c291-b76ea330f170}">
          <p14:sldIdLst>
            <p14:sldId id="256"/>
            <p14:sldId id="257"/>
          </p14:sldIdLst>
        </p14:section>
        <p14:section name="A cotação" id="{552ac0e8-5e94-f40d-c9af-3988d3e94fef}">
          <p14:sldIdLst>
            <p14:sldId id="258"/>
            <p14:sldId id="259"/>
          </p14:sldIdLst>
        </p14:section>
        <p14:section name="A carteira" id="{a849ae14-2a98-3af3-68ab-29febccaee8d}">
          <p14:sldIdLst>
            <p14:sldId id="260"/>
            <p14:sldId id="261"/>
            <p14:sldId id="262"/>
          </p14:sldIdLst>
        </p14:section>
        <p14:section name="Futuro" id="{69917ba7-9d11-2594-62f4-9f239f71806f}">
          <p14:sldIdLst>
            <p14:sldId id="263"/>
            <p14:sldId id="264"/>
          </p14:sldIdLst>
        </p14:section>
        <p14:section name="Proposta" id="{23fd055b-c34b-87c7-4545-2e108ba8048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o número, sem rodeio: hoje uma cotação de peça de motor leva mais de uma hora; no PartsFlow, com o catálogo lá dentro, menos de dez minutos. E já deixar claro: não substitui o JBoss, trabalha ao lado. O fiscal e o financeiro continuam no ERP.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linha por linha perguntando: isso acontece aqui? A primeira linha é o número que vamos provar ao vivo. As outras são o que a tela da cotação já faz, que é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pra mostrar AO VIVO. Roteiro: 1) colar o print da lista de um cliente; 2) escolher o cliente e mostrar os 15 mais comprados (no JBoss isso é puxar relatório); 3) mostrar saldo, margem e preço final na linha; 4) passar o mouse no último preço; 6) clicar na etiqueta do catálogo e mostrar o desenho e o kit; 7) a faixa Ofereça também; 8) trocar o cliente sem perder os itens. Cronometrar a cotação de motor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vivo: abrir o Assistente (Alt+O), escrever uma regra em português, e em seguida cotar um item daquele cliente: a marca bloqueada não sobe, a REI só aparece se faltar SPICER, a margem já vem certa. Ninguém precisa lembrar de cabeça.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Órbita girando e o Resumo: X clientes parados e R$ Y por ano em risco (usar o número real). Pergunta pra plateia: quem desses a gente percebeu que parou? Hoje ninguém vê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já funciona. Mostrar no celular: abrir o link, tocar num número do desenho e pedir. O próximo passo (ainda não feito) é o portal do cliente: com login, ele cota sozinho digitando só código e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é PRÉVIA, o próximo passo. O cliente entra com login, digita o código que ele tem (de qualquer marca, o sistema converte) e a quantidade, ou cola a lista. Vê na hora disponibilidade e preço da tabela dele. O que é pequeno e tem saldo sai sozinho; o resto chega pronto pro vendedor, com nota de prioridade. O vendedor para de digitar cotação e vai cuidar da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prometer data: mostrar que o caminho existe. Começa ao lado do JBoss, sem risco. Com o tempo, integra: o saldo e os pedidos do ERP entram sozinhos, o cadastro alimenta o site e o Vendas On, e os avisos vão pelo WhatsApp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mais pesado do e-commerce de autopeça é o cadastro: descrição, foto e compatibilidade. Isso o PartsFlow já tem. Caminho mais simples: um integrador (hub de marketplace, ex. Bling, Tiny, ANYMARKET) que já fala com Mercado Livre, Shopee e loja virtual; o PartsFlow manda cadastro, saldo e preço pro hub, e os pedidos voltam. Caminho mais completo: API direta do Mercado Livre e da Shopee. Em qualquer um, um só cadastro e um só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pouco e com saída fácil. Pergunta fechada no final: posso começar com [nome] e [nome] na segunda?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Alt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Escuro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PARTSFLOW · TRIEX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4"/>
                </a:solidFill>
              </a:rPr>
              <a:t>Cotação de peça de motor: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de +1 hora pra menos de 10 min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Trabalha ao lado do JBoss. Nada muda no ERP.</a:t>
            </a:r>
            <a:endParaRPr lang="en-US" sz="2200" dirty="0"/>
          </a:p>
        </p:txBody>
      </p:sp>
      <p:sp>
        <p:nvSpPr>
          <p:cNvPr id="5" name="Apresentador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[Nome de quem apresenta] · [data]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HOJE × COM O PARTSFLOW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muda no dia do vendedor</a:t>
            </a:r>
            <a:endParaRPr lang="en-US" sz="3000" dirty="0"/>
          </a:p>
        </p:txBody>
      </p:sp>
      <p:graphicFrame>
        <p:nvGraphicFramePr>
          <p:cNvPr id="3" name="Tabela hoje e Parts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383280"/>
                <a:gridCol w="38404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(JBoss)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0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o PartsFlow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Cotação de peça de motor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de 1 hora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10 minutos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cliente mais compra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Puxar relatório e montar lista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Aparece ao escolher o 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preço e margem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Atrás de vários cliques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linha do item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do 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Digitar item por item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 o print ou a foto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de cada 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cabeça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assistente aplica sozinho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Oferecer o complementar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da memória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sistema sugere na cotação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que parou de comprar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Ninguém vê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Aparece na Órbita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 TELA DE COTAÇÃO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Tudo o que já dá pra fazer direto da cotação</a:t>
            </a:r>
            <a:endParaRPr lang="en-US" sz="3000" dirty="0"/>
          </a:p>
        </p:txBody>
      </p:sp>
      <p:sp>
        <p:nvSpPr>
          <p:cNvPr id="4" name="Fundo da captura"/>
          <p:cNvSpPr/>
          <p:nvPr/>
        </p:nvSpPr>
        <p:spPr>
          <a:xfrm>
            <a:off x="457200" y="1600200"/>
            <a:ext cx="7635240" cy="4617720"/>
          </a:xfrm>
          <a:prstGeom prst="roundRect">
            <a:avLst>
              <a:gd name="adj" fmla="val 23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Captura" descr="Tela de cotação com números marcando cada funçã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673352"/>
            <a:ext cx="7488936" cy="4471416"/>
          </a:xfrm>
          <a:prstGeom prst="rect">
            <a:avLst/>
          </a:prstGeom>
        </p:spPr>
      </p:pic>
      <p:sp>
        <p:nvSpPr>
          <p:cNvPr id="6" name="Número"/>
          <p:cNvSpPr/>
          <p:nvPr/>
        </p:nvSpPr>
        <p:spPr>
          <a:xfrm>
            <a:off x="8275320" y="1664208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Legenda 1"/>
          <p:cNvSpPr txBox="1"/>
          <p:nvPr/>
        </p:nvSpPr>
        <p:spPr>
          <a:xfrm>
            <a:off x="8732520" y="160934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Colar print ou carregar arquivo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foto, PDF ou Excel: a lista do cliente vira itens</a:t>
            </a:r>
            <a:endParaRPr lang="en-US" sz="1300" dirty="0"/>
          </a:p>
        </p:txBody>
      </p:sp>
      <p:sp>
        <p:nvSpPr>
          <p:cNvPr id="9" name="Número"/>
          <p:cNvSpPr/>
          <p:nvPr/>
        </p:nvSpPr>
        <p:spPr>
          <a:xfrm>
            <a:off x="8275320" y="2171700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2171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Legenda 2"/>
          <p:cNvSpPr txBox="1"/>
          <p:nvPr/>
        </p:nvSpPr>
        <p:spPr>
          <a:xfrm>
            <a:off x="8732520" y="211683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O que o cliente mais compra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15 itens e marcas; traz pra cotação com 1 clique</a:t>
            </a:r>
            <a:endParaRPr lang="en-US" sz="1300" dirty="0"/>
          </a:p>
        </p:txBody>
      </p:sp>
      <p:sp>
        <p:nvSpPr>
          <p:cNvPr id="12" name="Número"/>
          <p:cNvSpPr/>
          <p:nvPr/>
        </p:nvSpPr>
        <p:spPr>
          <a:xfrm>
            <a:off x="8275320" y="2679192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Legenda 3"/>
          <p:cNvSpPr txBox="1"/>
          <p:nvPr/>
        </p:nvSpPr>
        <p:spPr>
          <a:xfrm>
            <a:off x="8732520" y="26243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Na linha do item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saldo, status, preço final com IPI/ST e margem</a:t>
            </a:r>
            <a:endParaRPr lang="en-US" sz="1300" dirty="0"/>
          </a:p>
        </p:txBody>
      </p:sp>
      <p:sp>
        <p:nvSpPr>
          <p:cNvPr id="15" name="Número"/>
          <p:cNvSpPr/>
          <p:nvPr/>
        </p:nvSpPr>
        <p:spPr>
          <a:xfrm>
            <a:off x="8275320" y="3186684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1866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Legenda 4"/>
          <p:cNvSpPr txBox="1"/>
          <p:nvPr/>
        </p:nvSpPr>
        <p:spPr>
          <a:xfrm>
            <a:off x="8732520" y="313182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Último preço do cliente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o que vendeu e o que só cotou</a:t>
            </a:r>
            <a:endParaRPr lang="en-US" sz="1300" dirty="0"/>
          </a:p>
        </p:txBody>
      </p:sp>
      <p:sp>
        <p:nvSpPr>
          <p:cNvPr id="18" name="Número"/>
          <p:cNvSpPr/>
          <p:nvPr/>
        </p:nvSpPr>
        <p:spPr>
          <a:xfrm>
            <a:off x="8275320" y="3694176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Legenda 5"/>
          <p:cNvSpPr txBox="1"/>
          <p:nvPr/>
        </p:nvSpPr>
        <p:spPr>
          <a:xfrm>
            <a:off x="873252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Código do cliente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a conversão aparece embaixo do nosso</a:t>
            </a:r>
            <a:endParaRPr lang="en-US" sz="1300" dirty="0"/>
          </a:p>
        </p:txBody>
      </p:sp>
      <p:sp>
        <p:nvSpPr>
          <p:cNvPr id="21" name="Número"/>
          <p:cNvSpPr/>
          <p:nvPr/>
        </p:nvSpPr>
        <p:spPr>
          <a:xfrm>
            <a:off x="8275320" y="4201668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42016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Legenda 6"/>
          <p:cNvSpPr txBox="1"/>
          <p:nvPr/>
        </p:nvSpPr>
        <p:spPr>
          <a:xfrm>
            <a:off x="8732520" y="414680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Catálogo e kit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grupo e nº do desenho; "vem no kit" e o saldo</a:t>
            </a:r>
            <a:endParaRPr lang="en-US" sz="1300" dirty="0"/>
          </a:p>
        </p:txBody>
      </p:sp>
      <p:sp>
        <p:nvSpPr>
          <p:cNvPr id="24" name="Número"/>
          <p:cNvSpPr/>
          <p:nvPr/>
        </p:nvSpPr>
        <p:spPr>
          <a:xfrm>
            <a:off x="8275320" y="4709160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6" name="Legenda 7"/>
          <p:cNvSpPr txBox="1"/>
          <p:nvPr/>
        </p:nvSpPr>
        <p:spPr>
          <a:xfrm>
            <a:off x="8732520" y="465429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Ofereça também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o sistema sugere o complementar</a:t>
            </a:r>
            <a:endParaRPr lang="en-US" sz="1300" dirty="0"/>
          </a:p>
        </p:txBody>
      </p:sp>
      <p:sp>
        <p:nvSpPr>
          <p:cNvPr id="27" name="Número"/>
          <p:cNvSpPr/>
          <p:nvPr/>
        </p:nvSpPr>
        <p:spPr>
          <a:xfrm>
            <a:off x="8275320" y="5216652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9" name="Legenda 8"/>
          <p:cNvSpPr txBox="1"/>
          <p:nvPr/>
        </p:nvSpPr>
        <p:spPr>
          <a:xfrm>
            <a:off x="8732520" y="516178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Trocar cliente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outro CNPJ sem redigitar os itens</a:t>
            </a:r>
            <a:endParaRPr lang="en-US" sz="1300" dirty="0"/>
          </a:p>
        </p:txBody>
      </p:sp>
      <p:sp>
        <p:nvSpPr>
          <p:cNvPr id="30" name="Número"/>
          <p:cNvSpPr/>
          <p:nvPr/>
        </p:nvSpPr>
        <p:spPr>
          <a:xfrm>
            <a:off x="8275320" y="5724144"/>
            <a:ext cx="365760" cy="365760"/>
          </a:xfrm>
          <a:prstGeom prst="ellipse">
            <a:avLst/>
          </a:prstGeom>
          <a:solidFill>
            <a:srgbClr val="E2622A"/>
          </a:solidFill>
          <a:ln w="12700">
            <a:solidFill>
              <a:srgbClr val="E262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2" name="Legenda 9"/>
          <p:cNvSpPr txBox="1"/>
          <p:nvPr/>
        </p:nvSpPr>
        <p:spPr>
          <a:xfrm>
            <a:off x="8732520" y="566928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Ações do item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E4F66"/>
                </a:solidFill>
              </a:rPr>
              <a:t>solicitar compra, avise-me, RMAs, substitutos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LISTA E ASSISTENTE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lista entra pelo print, e as regras do cliente seguem sozinhas</a:t>
            </a:r>
            <a:endParaRPr lang="en-US" sz="3000" dirty="0"/>
          </a:p>
        </p:txBody>
      </p:sp>
      <p:sp>
        <p:nvSpPr>
          <p:cNvPr id="4" name="Cartão"/>
          <p:cNvSpPr/>
          <p:nvPr/>
        </p:nvSpPr>
        <p:spPr>
          <a:xfrm>
            <a:off x="548640" y="1783080"/>
            <a:ext cx="3291840" cy="4297680"/>
          </a:xfrm>
          <a:prstGeom prst="roundRect">
            <a:avLst>
              <a:gd name="adj" fmla="val 333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Ícone fundo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Lista por foto ou print</a:t>
            </a:r>
            <a:endParaRPr lang="en-US" sz="1900" dirty="0"/>
          </a:p>
        </p:txBody>
      </p:sp>
      <p:sp>
        <p:nvSpPr>
          <p:cNvPr id="8" name="Soluções"/>
          <p:cNvSpPr txBox="1"/>
          <p:nvPr/>
        </p:nvSpPr>
        <p:spPr>
          <a:xfrm>
            <a:off x="822960" y="32461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 cliente manda print, foto, PDF ou Excel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Cola na cotação: os itens entram com código e quantidade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Nada de digitar item por item</a:t>
            </a:r>
            <a:endParaRPr lang="en-US" sz="1500" dirty="0"/>
          </a:p>
        </p:txBody>
      </p:sp>
      <p:sp>
        <p:nvSpPr>
          <p:cNvPr id="9" name="Cartão"/>
          <p:cNvSpPr/>
          <p:nvPr/>
        </p:nvSpPr>
        <p:spPr>
          <a:xfrm>
            <a:off x="4069080" y="1783080"/>
            <a:ext cx="3291840" cy="4297680"/>
          </a:xfrm>
          <a:prstGeom prst="roundRect">
            <a:avLst>
              <a:gd name="adj" fmla="val 333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Ícone fundo"/>
          <p:cNvSpPr/>
          <p:nvPr/>
        </p:nvSpPr>
        <p:spPr>
          <a:xfrm>
            <a:off x="434340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93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Assistente de vendas</a:t>
            </a:r>
            <a:endParaRPr lang="en-US" sz="1900" dirty="0"/>
          </a:p>
        </p:txBody>
      </p:sp>
      <p:sp>
        <p:nvSpPr>
          <p:cNvPr id="13" name="Soluções"/>
          <p:cNvSpPr txBox="1"/>
          <p:nvPr/>
        </p:nvSpPr>
        <p:spPr>
          <a:xfrm>
            <a:off x="4343400" y="32461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Escreve a regra do seu jeito: "não cotar genérico pra esse cliente"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Ao escolher o cliente, a cotação já sai com as regras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Regra geral (empresa) e por cliente</a:t>
            </a:r>
            <a:endParaRPr lang="en-US" sz="1500" dirty="0"/>
          </a:p>
        </p:txBody>
      </p:sp>
      <p:sp>
        <p:nvSpPr>
          <p:cNvPr id="14" name="Fundo da captura"/>
          <p:cNvSpPr/>
          <p:nvPr/>
        </p:nvSpPr>
        <p:spPr>
          <a:xfrm>
            <a:off x="7589520" y="1783080"/>
            <a:ext cx="4023360" cy="4297680"/>
          </a:xfrm>
          <a:prstGeom prst="roundRect">
            <a:avLst>
              <a:gd name="adj" fmla="val 2727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Captura" descr="Assistente de vendas com as regras de um client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80960" y="1856232"/>
            <a:ext cx="3840480" cy="41513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ÓRBITA DA CARTEIRA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carteira inteira numa tela</a:t>
            </a:r>
            <a:endParaRPr lang="en-US" sz="3000" dirty="0"/>
          </a:p>
        </p:txBody>
      </p:sp>
      <p:pic>
        <p:nvPicPr>
          <p:cNvPr id="4" name="Captura" descr="Órbita 3D: cada planeta é um clien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120640" cy="3410712"/>
          </a:xfrm>
          <a:prstGeom prst="rect">
            <a:avLst/>
          </a:prstGeom>
        </p:spPr>
      </p:pic>
      <p:pic>
        <p:nvPicPr>
          <p:cNvPr id="5" name="Captura" descr="Resumo da carteira: ativos, parados, dinheiro em risc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0" y="1737360"/>
            <a:ext cx="5715000" cy="2322576"/>
          </a:xfrm>
          <a:prstGeom prst="rect">
            <a:avLst/>
          </a:prstGeom>
        </p:spPr>
      </p:pic>
      <p:sp>
        <p:nvSpPr>
          <p:cNvPr id="6" name="Soluções"/>
          <p:cNvSpPr txBox="1"/>
          <p:nvPr/>
        </p:nvSpPr>
        <p:spPr>
          <a:xfrm>
            <a:off x="5897880" y="4251960"/>
            <a:ext cx="5715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Quanto mais perto do centro, mais recente a compra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Quem parou de comprar fica vermelho, e o sistema soma quanto está em risco por ano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Quem está crescendo, quem é potencial e quem só cota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Clicou no cliente: a ficha com cotações, pedidos e o que ele mais compra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PRONTO HOJE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cliente pede a peça pelo link, sem saber o código</a:t>
            </a:r>
            <a:endParaRPr lang="en-US" sz="3000" dirty="0"/>
          </a:p>
        </p:txBody>
      </p:sp>
      <p:sp>
        <p:nvSpPr>
          <p:cNvPr id="4" name="Soluções"/>
          <p:cNvSpPr txBox="1"/>
          <p:nvPr/>
        </p:nvSpPr>
        <p:spPr>
          <a:xfrm>
            <a:off x="548640" y="1783080"/>
            <a:ext cx="3383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Mandamos o link do catálogo (eixo, transmissão...)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Ele informa a máquina, toca no número da peça no desenho e pede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 pedido chega pra gente com o código e o saldo, e vira cotação com 1 clique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 link não mostra nosso nome: o cliente pode repassar pro cliente dele</a:t>
            </a:r>
            <a:endParaRPr lang="en-US" sz="1500" dirty="0"/>
          </a:p>
        </p:txBody>
      </p:sp>
      <p:sp>
        <p:nvSpPr>
          <p:cNvPr id="5" name="Fundo da captura"/>
          <p:cNvSpPr/>
          <p:nvPr/>
        </p:nvSpPr>
        <p:spPr>
          <a:xfrm>
            <a:off x="4160520" y="1783080"/>
            <a:ext cx="7452360" cy="4069080"/>
          </a:xfrm>
          <a:prstGeom prst="roundRect">
            <a:avLst>
              <a:gd name="adj" fmla="val 2697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Captura" descr="Catálogo aberto no celular do cliente: máquina, desenho, peça e pedi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1856232"/>
            <a:ext cx="7269480" cy="3913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PRÓXIMO PASSO · PRÉVIA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cliente cota sozinho, só com o código e a quantidade</a:t>
            </a:r>
            <a:endParaRPr lang="en-US" sz="3000" dirty="0"/>
          </a:p>
        </p:txBody>
      </p:sp>
      <p:sp>
        <p:nvSpPr>
          <p:cNvPr id="4" name="Fundo da prévia"/>
          <p:cNvSpPr/>
          <p:nvPr/>
        </p:nvSpPr>
        <p:spPr>
          <a:xfrm>
            <a:off x="457200" y="1600200"/>
            <a:ext cx="112471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Captura" descr="Prévia do portal: o cliente digita código e quantidade; o vendedor recebe a cotação pront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73352"/>
            <a:ext cx="1106424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4F66"/>
                </a:solidFill>
              </a:rPr>
              <a:t>Código de qualquer marca (Spicer, REI, Stahl, original) · preço da tabela dele · o que não sair sozinho vai pro vendedor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DAQUI PRA FRENTE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Hoje ao lado do JBoss. Amanhã, integrado.</a:t>
            </a:r>
            <a:endParaRPr lang="en-US" sz="3000" dirty="0"/>
          </a:p>
        </p:txBody>
      </p:sp>
      <p:sp>
        <p:nvSpPr>
          <p:cNvPr id="4" name="PartsFlow"/>
          <p:cNvSpPr/>
          <p:nvPr/>
        </p:nvSpPr>
        <p:spPr>
          <a:xfrm>
            <a:off x="4727448" y="324612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27448" y="3246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A"/>
                </a:solidFill>
              </a:rPr>
              <a:t>PartsFlow</a:t>
            </a:r>
            <a:endParaRPr lang="en-US" sz="2600" dirty="0"/>
          </a:p>
        </p:txBody>
      </p:sp>
      <p:sp>
        <p:nvSpPr>
          <p:cNvPr id="6" name="Cartão"/>
          <p:cNvSpPr/>
          <p:nvPr/>
        </p:nvSpPr>
        <p:spPr>
          <a:xfrm>
            <a:off x="548640" y="178308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JBoss / ERP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Saldo, pedidos e preço entrando sozinhos</a:t>
            </a:r>
            <a:endParaRPr lang="en-US" sz="1800" dirty="0"/>
          </a:p>
        </p:txBody>
      </p:sp>
      <p:sp>
        <p:nvSpPr>
          <p:cNvPr id="8" name="Ligação"/>
          <p:cNvSpPr/>
          <p:nvPr/>
        </p:nvSpPr>
        <p:spPr>
          <a:xfrm>
            <a:off x="3657600" y="3108960"/>
            <a:ext cx="1069848" cy="137160"/>
          </a:xfrm>
          <a:prstGeom prst="line">
            <a:avLst/>
          </a:prstGeom>
          <a:noFill/>
          <a:ln w="25400">
            <a:solidFill>
              <a:srgbClr val="C2591F"/>
            </a:solidFill>
            <a:prstDash val="dash"/>
          </a:ln>
        </p:spPr>
      </p:sp>
      <p:sp>
        <p:nvSpPr>
          <p:cNvPr id="9" name="Cartão"/>
          <p:cNvSpPr/>
          <p:nvPr/>
        </p:nvSpPr>
        <p:spPr>
          <a:xfrm>
            <a:off x="8549640" y="178308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778240" y="1920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Nosso site de vendas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Mesmo cadastro, aplicação e foto</a:t>
            </a:r>
            <a:endParaRPr lang="en-US" sz="1800" dirty="0"/>
          </a:p>
        </p:txBody>
      </p:sp>
      <p:sp>
        <p:nvSpPr>
          <p:cNvPr id="11" name="Ligação"/>
          <p:cNvSpPr/>
          <p:nvPr/>
        </p:nvSpPr>
        <p:spPr>
          <a:xfrm flipV="1">
            <a:off x="7470648" y="3108960"/>
            <a:ext cx="1078992" cy="137160"/>
          </a:xfrm>
          <a:prstGeom prst="line">
            <a:avLst/>
          </a:prstGeom>
          <a:noFill/>
          <a:ln w="25400">
            <a:solidFill>
              <a:srgbClr val="C2591F"/>
            </a:solidFill>
            <a:prstDash val="dash"/>
          </a:ln>
        </p:spPr>
      </p:sp>
      <p:sp>
        <p:nvSpPr>
          <p:cNvPr id="12" name="Cartão"/>
          <p:cNvSpPr/>
          <p:nvPr/>
        </p:nvSpPr>
        <p:spPr>
          <a:xfrm>
            <a:off x="548640" y="457200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7091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Vendas On e marketplaces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Anúncio e pedido sem redigitar</a:t>
            </a:r>
            <a:endParaRPr lang="en-US" sz="1800" dirty="0"/>
          </a:p>
        </p:txBody>
      </p:sp>
      <p:sp>
        <p:nvSpPr>
          <p:cNvPr id="14" name="Ligação"/>
          <p:cNvSpPr/>
          <p:nvPr/>
        </p:nvSpPr>
        <p:spPr>
          <a:xfrm flipV="1">
            <a:off x="3657600" y="4343400"/>
            <a:ext cx="1069848" cy="228600"/>
          </a:xfrm>
          <a:prstGeom prst="line">
            <a:avLst/>
          </a:prstGeom>
          <a:noFill/>
          <a:ln w="25400">
            <a:solidFill>
              <a:srgbClr val="C2591F"/>
            </a:solidFill>
            <a:prstDash val="dash"/>
          </a:ln>
        </p:spPr>
      </p:sp>
      <p:sp>
        <p:nvSpPr>
          <p:cNvPr id="15" name="Cartão"/>
          <p:cNvSpPr/>
          <p:nvPr/>
        </p:nvSpPr>
        <p:spPr>
          <a:xfrm>
            <a:off x="8549640" y="457200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778240" y="47091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WhatsApp oficial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Avisar pedido emitido e faturado</a:t>
            </a:r>
            <a:endParaRPr lang="en-US" sz="1800" dirty="0"/>
          </a:p>
        </p:txBody>
      </p:sp>
      <p:sp>
        <p:nvSpPr>
          <p:cNvPr id="17" name="Ligação"/>
          <p:cNvSpPr/>
          <p:nvPr/>
        </p:nvSpPr>
        <p:spPr>
          <a:xfrm>
            <a:off x="7470648" y="4343400"/>
            <a:ext cx="1078992" cy="228600"/>
          </a:xfrm>
          <a:prstGeom prst="line">
            <a:avLst/>
          </a:prstGeom>
          <a:noFill/>
          <a:ln w="25400">
            <a:solidFill>
              <a:srgbClr val="C2591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4F66"/>
                </a:solidFill>
              </a:rPr>
              <a:t>Portal do cliente (próximo passo): com login, ele cota sozinho digitando só código e quantidade.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VENDAS ONLINE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cadastro só, vendendo no site, no Mercado Livre e na Shopee</a:t>
            </a:r>
            <a:endParaRPr lang="en-US" sz="3000" dirty="0"/>
          </a:p>
        </p:txBody>
      </p:sp>
      <p:sp>
        <p:nvSpPr>
          <p:cNvPr id="4" name="PartsFlow"/>
          <p:cNvSpPr/>
          <p:nvPr/>
        </p:nvSpPr>
        <p:spPr>
          <a:xfrm>
            <a:off x="548640" y="1783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</a:rPr>
              <a:t>PartsFlow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o que já temos: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</a:rPr>
              <a:t>Descrição padrão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</a:rPr>
              <a:t>Fotos e desenho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</a:rPr>
              <a:t>Aplicação por veículo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</a:rPr>
              <a:t>Conversões e equivalentes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</a:rPr>
              <a:t>Saldo e preço</a:t>
            </a:r>
            <a:endParaRPr lang="en-US" sz="1500" dirty="0"/>
          </a:p>
        </p:txBody>
      </p:sp>
      <p:sp>
        <p:nvSpPr>
          <p:cNvPr id="7" name="Hub"/>
          <p:cNvSpPr/>
          <p:nvPr/>
        </p:nvSpPr>
        <p:spPr>
          <a:xfrm>
            <a:off x="4572000" y="283464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2907792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4B"/>
                </a:solidFill>
              </a:rPr>
              <a:t>Integrador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4F66"/>
                </a:solidFill>
              </a:rPr>
              <a:t>hub de marketplace ou API direta</a:t>
            </a:r>
            <a:endParaRPr lang="en-US" sz="1700" dirty="0"/>
          </a:p>
        </p:txBody>
      </p:sp>
      <p:sp>
        <p:nvSpPr>
          <p:cNvPr id="9" name="Seta"/>
          <p:cNvSpPr/>
          <p:nvPr/>
        </p:nvSpPr>
        <p:spPr>
          <a:xfrm>
            <a:off x="4160520" y="3364992"/>
            <a:ext cx="36576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eta"/>
          <p:cNvSpPr/>
          <p:nvPr/>
        </p:nvSpPr>
        <p:spPr>
          <a:xfrm>
            <a:off x="6995160" y="3364992"/>
            <a:ext cx="36576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tão"/>
          <p:cNvSpPr/>
          <p:nvPr/>
        </p:nvSpPr>
        <p:spPr>
          <a:xfrm>
            <a:off x="7452360" y="1783080"/>
            <a:ext cx="4160520" cy="740664"/>
          </a:xfrm>
          <a:prstGeom prst="roundRect">
            <a:avLst>
              <a:gd name="adj" fmla="val 14815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80960" y="1783080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</a:rPr>
              <a:t>Nosso site</a:t>
            </a:r>
            <a:endParaRPr lang="en-US" sz="1700" dirty="0"/>
          </a:p>
        </p:txBody>
      </p:sp>
      <p:sp>
        <p:nvSpPr>
          <p:cNvPr id="13" name="Cartão"/>
          <p:cNvSpPr/>
          <p:nvPr/>
        </p:nvSpPr>
        <p:spPr>
          <a:xfrm>
            <a:off x="7452360" y="2724912"/>
            <a:ext cx="4160520" cy="740664"/>
          </a:xfrm>
          <a:prstGeom prst="roundRect">
            <a:avLst>
              <a:gd name="adj" fmla="val 14815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0" y="2724912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</a:rPr>
              <a:t>Mercado Livre</a:t>
            </a:r>
            <a:endParaRPr lang="en-US" sz="1700" dirty="0"/>
          </a:p>
        </p:txBody>
      </p:sp>
      <p:sp>
        <p:nvSpPr>
          <p:cNvPr id="15" name="Cartão"/>
          <p:cNvSpPr/>
          <p:nvPr/>
        </p:nvSpPr>
        <p:spPr>
          <a:xfrm>
            <a:off x="7452360" y="3666744"/>
            <a:ext cx="4160520" cy="740664"/>
          </a:xfrm>
          <a:prstGeom prst="roundRect">
            <a:avLst>
              <a:gd name="adj" fmla="val 14815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680960" y="3666744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</a:rPr>
              <a:t>Shopee</a:t>
            </a:r>
            <a:endParaRPr lang="en-US" sz="1700" dirty="0"/>
          </a:p>
        </p:txBody>
      </p:sp>
      <p:sp>
        <p:nvSpPr>
          <p:cNvPr id="17" name="Cartão"/>
          <p:cNvSpPr/>
          <p:nvPr/>
        </p:nvSpPr>
        <p:spPr>
          <a:xfrm>
            <a:off x="7452360" y="4608576"/>
            <a:ext cx="4160520" cy="740664"/>
          </a:xfrm>
          <a:prstGeom prst="roundRect">
            <a:avLst>
              <a:gd name="adj" fmla="val 14815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680960" y="4608576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</a:rPr>
              <a:t>Outros (Amazon, Magalu…)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91F"/>
                </a:solidFill>
              </a:rPr>
              <a:t>→ vai: </a:t>
            </a:r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anúncio com foto, descrição e compatibilidade de veículo · saldo e preço atualizados sozinhos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</a:rPr>
              <a:t>← volta: </a:t>
            </a:r>
            <a:pPr indent="0" marL="0">
              <a:buNone/>
            </a:pPr>
            <a:r>
              <a:rPr lang="en-US" sz="1400" dirty="0">
                <a:solidFill>
                  <a:srgbClr val="3E4F66"/>
                </a:solidFill>
              </a:rPr>
              <a:t>pedidos e perguntas entram no PartsFlow e seguem pro ERP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4"/>
                </a:solidFill>
              </a:rPr>
              <a:t>Piloto de 30 dias.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Sem mexer no ERP.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[2] vendedores · medimos tempo de cotação de motor, cotações por dia e quantas viram pedido. Se não melhorar, paramos.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tsFlow Triex">
  <a:themeElements>
    <a:clrScheme name="PartsFlow Triex">
      <a:dk1>
        <a:srgbClr val="13294B"/>
      </a:dk1>
      <a:lt1>
        <a:srgbClr val="FFFFFF"/>
      </a:lt1>
      <a:dk2>
        <a:srgbClr val="3E4F66"/>
      </a:dk2>
      <a:lt2>
        <a:srgbClr val="E9EEF5"/>
      </a:lt2>
      <a:accent1>
        <a:srgbClr val="C2591F"/>
      </a:accent1>
      <a:accent2>
        <a:srgbClr val="F08A4B"/>
      </a:accent2>
      <a:accent3>
        <a:srgbClr val="1C3760"/>
      </a:accent3>
      <a:accent4>
        <a:srgbClr val="F4F1EA"/>
      </a:accent4>
      <a:accent5>
        <a:srgbClr val="B23B3B"/>
      </a:accent5>
      <a:accent6>
        <a:srgbClr val="C9D6E8"/>
      </a:accent6>
      <a:hlink>
        <a:srgbClr val="1E8449"/>
      </a:hlink>
      <a:folHlink>
        <a:srgbClr val="6B7A90"/>
      </a:folHlink>
    </a:clrScheme>
    <a:fontScheme name="PartsFlow Trie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PartsFlow — cotação de motor em 10 minutos</dc:title>
  <dc:subject>PptxGenJS Presentation</dc:subject>
  <dc:creator>Triex</dc:creator>
  <cp:lastModifiedBy>Triex</cp:lastModifiedBy>
  <cp:revision>1</cp:revision>
  <dcterms:created xsi:type="dcterms:W3CDTF">2026-10-07T14:58:20Z</dcterms:created>
  <dcterms:modified xsi:type="dcterms:W3CDTF">2026-10-07T14:58:20Z</dcterms:modified>
</cp:coreProperties>
</file>